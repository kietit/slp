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" charset="1" panose="00000500000000000000"/>
      <p:regular r:id="rId16"/>
    </p:embeddedFont>
    <p:embeddedFont>
      <p:font typeface="Montserrat Bold" charset="1" panose="00000800000000000000"/>
      <p:regular r:id="rId17"/>
    </p:embeddedFont>
    <p:embeddedFont>
      <p:font typeface="Montserrat Italics" charset="1" panose="00000500000000000000"/>
      <p:regular r:id="rId18"/>
    </p:embeddedFont>
    <p:embeddedFont>
      <p:font typeface="Sloop Script Pro" charset="1" panose="0000000000000009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1.jpe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4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4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jpe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7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0884" y="-236872"/>
            <a:ext cx="11165910" cy="10760745"/>
            <a:chOff x="0" y="0"/>
            <a:chExt cx="14887880" cy="1434766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4887829" cy="14347698"/>
            </a:xfrm>
            <a:custGeom>
              <a:avLst/>
              <a:gdLst/>
              <a:ahLst/>
              <a:cxnLst/>
              <a:rect r="r" b="b" t="t" l="l"/>
              <a:pathLst>
                <a:path h="14347698" w="14887829">
                  <a:moveTo>
                    <a:pt x="14887829" y="0"/>
                  </a:moveTo>
                  <a:lnTo>
                    <a:pt x="0" y="0"/>
                  </a:lnTo>
                  <a:lnTo>
                    <a:pt x="0" y="14347698"/>
                  </a:lnTo>
                  <a:lnTo>
                    <a:pt x="14887829" y="14347698"/>
                  </a:lnTo>
                  <a:lnTo>
                    <a:pt x="14887829" y="0"/>
                  </a:lnTo>
                  <a:close/>
                </a:path>
              </a:pathLst>
            </a:custGeom>
            <a:blipFill>
              <a:blip r:embed="rId2"/>
              <a:stretch>
                <a:fillRect l="0" t="-53765" r="0" b="-537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312207" y="-5456215"/>
            <a:ext cx="13969717" cy="13952258"/>
            <a:chOff x="0" y="0"/>
            <a:chExt cx="18626290" cy="18603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626328" cy="18602961"/>
            </a:xfrm>
            <a:custGeom>
              <a:avLst/>
              <a:gdLst/>
              <a:ahLst/>
              <a:cxnLst/>
              <a:rect r="r" b="b" t="t" l="l"/>
              <a:pathLst>
                <a:path h="18602961" w="18626328">
                  <a:moveTo>
                    <a:pt x="0" y="0"/>
                  </a:moveTo>
                  <a:lnTo>
                    <a:pt x="18626328" y="0"/>
                  </a:lnTo>
                  <a:lnTo>
                    <a:pt x="18626328" y="18602961"/>
                  </a:lnTo>
                  <a:lnTo>
                    <a:pt x="0" y="18602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" t="0" r="-1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146096" y="1820428"/>
            <a:ext cx="6180125" cy="6172400"/>
            <a:chOff x="0" y="0"/>
            <a:chExt cx="8240166" cy="82298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40141" cy="8229854"/>
            </a:xfrm>
            <a:custGeom>
              <a:avLst/>
              <a:gdLst/>
              <a:ahLst/>
              <a:cxnLst/>
              <a:rect r="r" b="b" t="t" l="l"/>
              <a:pathLst>
                <a:path h="8229854" w="8240141">
                  <a:moveTo>
                    <a:pt x="0" y="0"/>
                  </a:moveTo>
                  <a:lnTo>
                    <a:pt x="8240141" y="0"/>
                  </a:lnTo>
                  <a:lnTo>
                    <a:pt x="8240141" y="8229854"/>
                  </a:lnTo>
                  <a:lnTo>
                    <a:pt x="0" y="8229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2" r="0" b="-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75026" y="-119091"/>
            <a:ext cx="7412974" cy="10760745"/>
            <a:chOff x="0" y="0"/>
            <a:chExt cx="9883966" cy="143476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84029" cy="14347698"/>
            </a:xfrm>
            <a:custGeom>
              <a:avLst/>
              <a:gdLst/>
              <a:ahLst/>
              <a:cxnLst/>
              <a:rect r="r" b="b" t="t" l="l"/>
              <a:pathLst>
                <a:path h="14347698" w="9884029">
                  <a:moveTo>
                    <a:pt x="0" y="0"/>
                  </a:moveTo>
                  <a:lnTo>
                    <a:pt x="9884029" y="0"/>
                  </a:lnTo>
                  <a:lnTo>
                    <a:pt x="9884029" y="14347698"/>
                  </a:lnTo>
                  <a:lnTo>
                    <a:pt x="0" y="1434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8889" r="0" b="-1888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06911" y="7342470"/>
            <a:ext cx="6606616" cy="6598358"/>
            <a:chOff x="0" y="0"/>
            <a:chExt cx="8808822" cy="87978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08847" cy="8797798"/>
            </a:xfrm>
            <a:custGeom>
              <a:avLst/>
              <a:gdLst/>
              <a:ahLst/>
              <a:cxnLst/>
              <a:rect r="r" b="b" t="t" l="l"/>
              <a:pathLst>
                <a:path h="8797798" w="8808847">
                  <a:moveTo>
                    <a:pt x="0" y="0"/>
                  </a:moveTo>
                  <a:lnTo>
                    <a:pt x="8808847" y="0"/>
                  </a:lnTo>
                  <a:lnTo>
                    <a:pt x="8808847" y="8797798"/>
                  </a:lnTo>
                  <a:lnTo>
                    <a:pt x="0" y="8797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2" r="0" b="-6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5021542"/>
            <a:ext cx="2435685" cy="2432647"/>
            <a:chOff x="0" y="0"/>
            <a:chExt cx="3247580" cy="32435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47644" cy="3243580"/>
            </a:xfrm>
            <a:custGeom>
              <a:avLst/>
              <a:gdLst/>
              <a:ahLst/>
              <a:cxnLst/>
              <a:rect r="r" b="b" t="t" l="l"/>
              <a:pathLst>
                <a:path h="3243580" w="3247644">
                  <a:moveTo>
                    <a:pt x="0" y="0"/>
                  </a:moveTo>
                  <a:lnTo>
                    <a:pt x="3247644" y="0"/>
                  </a:lnTo>
                  <a:lnTo>
                    <a:pt x="3247644" y="3243580"/>
                  </a:lnTo>
                  <a:lnTo>
                    <a:pt x="0" y="3243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2" r="1" b="-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11368" y="6782848"/>
            <a:ext cx="9400032" cy="9388288"/>
            <a:chOff x="0" y="0"/>
            <a:chExt cx="12533376" cy="125177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33376" cy="12517755"/>
            </a:xfrm>
            <a:custGeom>
              <a:avLst/>
              <a:gdLst/>
              <a:ahLst/>
              <a:cxnLst/>
              <a:rect r="r" b="b" t="t" l="l"/>
              <a:pathLst>
                <a:path h="12517755" w="12533376">
                  <a:moveTo>
                    <a:pt x="0" y="0"/>
                  </a:moveTo>
                  <a:lnTo>
                    <a:pt x="12533376" y="0"/>
                  </a:lnTo>
                  <a:lnTo>
                    <a:pt x="12533376" y="12517755"/>
                  </a:lnTo>
                  <a:lnTo>
                    <a:pt x="0" y="12517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" t="0" r="-18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5486400" y="5796839"/>
          <a:ext cx="7315200" cy="33147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Nguyen Xuan Trung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SE193716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Trinh Vy Kiet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SE192636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Nguyen Thanh Phat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SE192617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86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Pham Hoang Phuc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SE192874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2845704" y="1788795"/>
            <a:ext cx="12596591" cy="311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n-US" b="true" sz="4999">
                <a:gradFill>
                  <a:gsLst>
                    <a:gs pos="0">
                      <a:srgbClr val="A42D2D">
                        <a:alpha val="100000"/>
                      </a:srgbClr>
                    </a:gs>
                    <a:gs pos="100000">
                      <a:srgbClr val="E52B2B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TONE-AWARE LORA ADAPTATION OF PHOWHISPER FOR NOISE-ROBUST VIETNAMESE ASR UNDER CONTROLLED ACOUSTIC NOISE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2016395" y="-2415254"/>
            <a:ext cx="10527106" cy="15281243"/>
            <a:chOff x="0" y="0"/>
            <a:chExt cx="14036142" cy="20374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6167" cy="20374990"/>
            </a:xfrm>
            <a:custGeom>
              <a:avLst/>
              <a:gdLst/>
              <a:ahLst/>
              <a:cxnLst/>
              <a:rect r="r" b="b" t="t" l="l"/>
              <a:pathLst>
                <a:path h="20374990" w="14036167">
                  <a:moveTo>
                    <a:pt x="0" y="0"/>
                  </a:moveTo>
                  <a:lnTo>
                    <a:pt x="14036167" y="0"/>
                  </a:lnTo>
                  <a:lnTo>
                    <a:pt x="14036167" y="20374990"/>
                  </a:lnTo>
                  <a:lnTo>
                    <a:pt x="0" y="20374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9000"/>
              </a:blip>
              <a:stretch>
                <a:fillRect l="0" t="-18889" r="0" b="-1888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556137" y="5277450"/>
            <a:ext cx="6066406" cy="6066406"/>
          </a:xfrm>
          <a:custGeom>
            <a:avLst/>
            <a:gdLst/>
            <a:ahLst/>
            <a:cxnLst/>
            <a:rect r="r" b="b" t="t" l="l"/>
            <a:pathLst>
              <a:path h="6066406" w="6066406">
                <a:moveTo>
                  <a:pt x="0" y="0"/>
                </a:moveTo>
                <a:lnTo>
                  <a:pt x="6066406" y="0"/>
                </a:lnTo>
                <a:lnTo>
                  <a:pt x="6066406" y="6066406"/>
                </a:lnTo>
                <a:lnTo>
                  <a:pt x="0" y="6066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380601" y="1825200"/>
            <a:ext cx="8118796" cy="7433100"/>
            <a:chOff x="0" y="0"/>
            <a:chExt cx="10825061" cy="99108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25099" cy="9910826"/>
            </a:xfrm>
            <a:custGeom>
              <a:avLst/>
              <a:gdLst/>
              <a:ahLst/>
              <a:cxnLst/>
              <a:rect r="r" b="b" t="t" l="l"/>
              <a:pathLst>
                <a:path h="9910826" w="10825099">
                  <a:moveTo>
                    <a:pt x="0" y="0"/>
                  </a:moveTo>
                  <a:lnTo>
                    <a:pt x="10825099" y="0"/>
                  </a:lnTo>
                  <a:lnTo>
                    <a:pt x="10825099" y="9910826"/>
                  </a:lnTo>
                  <a:lnTo>
                    <a:pt x="0" y="9910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543" r="0" b="-454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8312399">
            <a:off x="7871470" y="114129"/>
            <a:ext cx="10622794" cy="10622794"/>
          </a:xfrm>
          <a:custGeom>
            <a:avLst/>
            <a:gdLst/>
            <a:ahLst/>
            <a:cxnLst/>
            <a:rect r="r" b="b" t="t" l="l"/>
            <a:pathLst>
              <a:path h="10622794" w="10622794">
                <a:moveTo>
                  <a:pt x="0" y="0"/>
                </a:moveTo>
                <a:lnTo>
                  <a:pt x="10622794" y="0"/>
                </a:lnTo>
                <a:lnTo>
                  <a:pt x="10622794" y="10622794"/>
                </a:lnTo>
                <a:lnTo>
                  <a:pt x="0" y="10622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95680">
            <a:off x="8119996" y="196367"/>
            <a:ext cx="12375956" cy="10819448"/>
            <a:chOff x="0" y="0"/>
            <a:chExt cx="16501275" cy="144259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01238" cy="14425930"/>
            </a:xfrm>
            <a:custGeom>
              <a:avLst/>
              <a:gdLst/>
              <a:ahLst/>
              <a:cxnLst/>
              <a:rect r="r" b="b" t="t" l="l"/>
              <a:pathLst>
                <a:path h="14425930" w="16501238">
                  <a:moveTo>
                    <a:pt x="0" y="0"/>
                  </a:moveTo>
                  <a:lnTo>
                    <a:pt x="16501238" y="0"/>
                  </a:lnTo>
                  <a:lnTo>
                    <a:pt x="16501238" y="14425930"/>
                  </a:lnTo>
                  <a:lnTo>
                    <a:pt x="0" y="14425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121" r="0" b="-712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326892" y="1539450"/>
            <a:ext cx="1398508" cy="150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9"/>
              </a:lnSpc>
            </a:pPr>
            <a:r>
              <a:rPr lang="en-US" sz="8013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13440" y="7142045"/>
            <a:ext cx="1296714" cy="150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9"/>
              </a:lnSpc>
            </a:pPr>
            <a:r>
              <a:rPr lang="en-US" sz="8013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39401" y="2915126"/>
            <a:ext cx="1875358" cy="150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9"/>
              </a:lnSpc>
            </a:pPr>
            <a:r>
              <a:rPr lang="en-US" sz="8013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13440" y="4331456"/>
            <a:ext cx="1583988" cy="150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9"/>
              </a:lnSpc>
            </a:pPr>
            <a:r>
              <a:rPr lang="en-US" sz="8013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06918" y="5727535"/>
            <a:ext cx="1392441" cy="150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9"/>
              </a:lnSpc>
            </a:pPr>
            <a:r>
              <a:rPr lang="en-US" sz="8013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2050" y="3806547"/>
            <a:ext cx="5355916" cy="254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5"/>
              </a:lnSpc>
            </a:pPr>
            <a:r>
              <a:rPr lang="en-US" b="true" sz="7334">
                <a:solidFill>
                  <a:srgbClr val="9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 OF</a:t>
            </a:r>
            <a:r>
              <a:rPr lang="en-US" b="true" sz="7334">
                <a:solidFill>
                  <a:srgbClr val="9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CONTENTS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65962" y="2990328"/>
            <a:ext cx="2941680" cy="74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4"/>
              </a:lnSpc>
            </a:pPr>
            <a:r>
              <a:rPr lang="en-US" sz="2190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Motivation &amp; 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65962" y="8383749"/>
            <a:ext cx="2874037" cy="74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4"/>
              </a:lnSpc>
            </a:pPr>
            <a:r>
              <a:rPr lang="en-US" sz="2190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Midterm Results &amp; Next Steps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55183" y="4272147"/>
            <a:ext cx="2007841" cy="74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4"/>
              </a:lnSpc>
            </a:pPr>
            <a:r>
              <a:rPr lang="en-US" sz="2190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</a:t>
            </a:r>
            <a:r>
              <a:rPr lang="en-US" sz="2190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 Gap &amp; Question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46720" y="5671102"/>
            <a:ext cx="3297772" cy="366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4"/>
              </a:lnSpc>
            </a:pPr>
            <a:r>
              <a:rPr lang="en-US" sz="2190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Method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06918" y="7082736"/>
            <a:ext cx="1704372" cy="747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4"/>
              </a:lnSpc>
            </a:pPr>
            <a:r>
              <a:rPr lang="en-US" sz="2190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Evaluat</a:t>
            </a:r>
            <a:r>
              <a:rPr lang="en-US" sz="2190" b="true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95680">
            <a:off x="-3915962" y="-266224"/>
            <a:ext cx="12375956" cy="10819448"/>
            <a:chOff x="0" y="0"/>
            <a:chExt cx="16501275" cy="144259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01238" cy="14425930"/>
            </a:xfrm>
            <a:custGeom>
              <a:avLst/>
              <a:gdLst/>
              <a:ahLst/>
              <a:cxnLst/>
              <a:rect r="r" b="b" t="t" l="l"/>
              <a:pathLst>
                <a:path h="14425930" w="16501238">
                  <a:moveTo>
                    <a:pt x="0" y="0"/>
                  </a:moveTo>
                  <a:lnTo>
                    <a:pt x="16501238" y="0"/>
                  </a:lnTo>
                  <a:lnTo>
                    <a:pt x="16501238" y="14425930"/>
                  </a:lnTo>
                  <a:lnTo>
                    <a:pt x="0" y="144259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121" r="0" b="-71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825808" y="8319149"/>
            <a:ext cx="13969717" cy="13952258"/>
            <a:chOff x="0" y="0"/>
            <a:chExt cx="18626290" cy="186030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626328" cy="18602961"/>
            </a:xfrm>
            <a:custGeom>
              <a:avLst/>
              <a:gdLst/>
              <a:ahLst/>
              <a:cxnLst/>
              <a:rect r="r" b="b" t="t" l="l"/>
              <a:pathLst>
                <a:path h="18602961" w="18626328">
                  <a:moveTo>
                    <a:pt x="0" y="0"/>
                  </a:moveTo>
                  <a:lnTo>
                    <a:pt x="18626328" y="0"/>
                  </a:lnTo>
                  <a:lnTo>
                    <a:pt x="18626328" y="18602961"/>
                  </a:lnTo>
                  <a:lnTo>
                    <a:pt x="0" y="18602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" t="0" r="-1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383848" y="40615"/>
            <a:ext cx="7412974" cy="10760745"/>
            <a:chOff x="0" y="0"/>
            <a:chExt cx="9883966" cy="143476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84029" cy="14347698"/>
            </a:xfrm>
            <a:custGeom>
              <a:avLst/>
              <a:gdLst/>
              <a:ahLst/>
              <a:cxnLst/>
              <a:rect r="r" b="b" t="t" l="l"/>
              <a:pathLst>
                <a:path h="14347698" w="9884029">
                  <a:moveTo>
                    <a:pt x="0" y="0"/>
                  </a:moveTo>
                  <a:lnTo>
                    <a:pt x="9884029" y="0"/>
                  </a:lnTo>
                  <a:lnTo>
                    <a:pt x="9884029" y="14347698"/>
                  </a:lnTo>
                  <a:lnTo>
                    <a:pt x="0" y="14347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7000"/>
              </a:blip>
              <a:stretch>
                <a:fillRect l="0" t="-18889" r="0" b="-18888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64899" y="1261945"/>
            <a:ext cx="14323101" cy="83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1"/>
              </a:lnSpc>
            </a:pPr>
            <a:r>
              <a:rPr lang="en-US" sz="5600" b="true">
                <a:solidFill>
                  <a:srgbClr val="9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MOTIVATION &amp; 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663390"/>
            <a:ext cx="15408192" cy="364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1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Vietnamese ASR must preserve both words and tones.</a:t>
            </a:r>
          </a:p>
          <a:p>
            <a:pPr algn="l">
              <a:lnSpc>
                <a:spcPts val="3613"/>
              </a:lnSpc>
            </a:pPr>
          </a:p>
          <a:p>
            <a:pPr algn="l" marL="561339" indent="-280669" lvl="1">
              <a:lnSpc>
                <a:spcPts val="3611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Real-world noise weakens tone-related acoustic cues.</a:t>
            </a:r>
          </a:p>
          <a:p>
            <a:pPr algn="l">
              <a:lnSpc>
                <a:spcPts val="3613"/>
              </a:lnSpc>
            </a:pPr>
          </a:p>
          <a:p>
            <a:pPr algn="l" marL="561339" indent="-280669" lvl="1">
              <a:lnSpc>
                <a:spcPts val="3613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WER/CER cannot isolate tone, diacritic, and final-coda errors.</a:t>
            </a:r>
          </a:p>
          <a:p>
            <a:pPr algn="l">
              <a:lnSpc>
                <a:spcPts val="3613"/>
              </a:lnSpc>
              <a:spcBef>
                <a:spcPct val="0"/>
              </a:spcBef>
            </a:pPr>
          </a:p>
          <a:p>
            <a:pPr algn="l" marL="561339" indent="-280669" lvl="1">
              <a:lnSpc>
                <a:spcPts val="3613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Problem:</a:t>
            </a: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How can we adapt PhoWhisper to noisy Vietnamese speech while preserving tonal correctness?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875197" y="6878743"/>
            <a:ext cx="14849652" cy="1440406"/>
            <a:chOff x="0" y="0"/>
            <a:chExt cx="19799535" cy="1920541"/>
          </a:xfrm>
        </p:grpSpPr>
        <p:sp>
          <p:nvSpPr>
            <p:cNvPr name="Freeform 12" id="12"/>
            <p:cNvSpPr/>
            <p:nvPr/>
          </p:nvSpPr>
          <p:spPr>
            <a:xfrm flipH="false" flipV="false" rot="5400000">
              <a:off x="8939497" y="-8939497"/>
              <a:ext cx="1920541" cy="19799535"/>
            </a:xfrm>
            <a:custGeom>
              <a:avLst/>
              <a:gdLst/>
              <a:ahLst/>
              <a:cxnLst/>
              <a:rect r="r" b="b" t="t" l="l"/>
              <a:pathLst>
                <a:path h="19799535" w="1920541">
                  <a:moveTo>
                    <a:pt x="0" y="0"/>
                  </a:moveTo>
                  <a:lnTo>
                    <a:pt x="1920541" y="0"/>
                  </a:lnTo>
                  <a:lnTo>
                    <a:pt x="1920541" y="19799535"/>
                  </a:lnTo>
                  <a:lnTo>
                    <a:pt x="0" y="19799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6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703391"/>
              <a:ext cx="18874793" cy="475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43"/>
                </a:lnSpc>
                <a:spcBef>
                  <a:spcPct val="0"/>
                </a:spcBef>
              </a:pPr>
              <a:r>
                <a:rPr lang="en-US" b="true" sz="219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Hypothesis: explicit tone supervision can improve Vietnamese-specific robustness under noise.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545996" y="9937610"/>
            <a:ext cx="6572845" cy="34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Refs: Radford et al. 2023; Le et al. 2024; Kirby 2010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162920" y="819150"/>
            <a:ext cx="11125080" cy="97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1"/>
              </a:lnSpc>
            </a:pPr>
            <a:r>
              <a:rPr lang="en-US" b="true" sz="5749">
                <a:solidFill>
                  <a:srgbClr val="9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</a:t>
            </a:r>
            <a:r>
              <a:rPr lang="en-US" b="true" sz="5749">
                <a:solidFill>
                  <a:srgbClr val="9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GAP &amp; QUESTION</a:t>
            </a:r>
          </a:p>
        </p:txBody>
      </p:sp>
      <p:sp>
        <p:nvSpPr>
          <p:cNvPr name="AutoShape 5" id="5"/>
          <p:cNvSpPr/>
          <p:nvPr/>
        </p:nvSpPr>
        <p:spPr>
          <a:xfrm>
            <a:off x="1458931" y="7522987"/>
            <a:ext cx="3193036" cy="0"/>
          </a:xfrm>
          <a:prstGeom prst="line">
            <a:avLst/>
          </a:prstGeom>
          <a:ln cap="flat" w="38100">
            <a:solidFill>
              <a:srgbClr val="9F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090339" y="2177532"/>
            <a:ext cx="3402559" cy="4238606"/>
            <a:chOff x="0" y="0"/>
            <a:chExt cx="4536745" cy="56514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36694" cy="5651500"/>
            </a:xfrm>
            <a:custGeom>
              <a:avLst/>
              <a:gdLst/>
              <a:ahLst/>
              <a:cxnLst/>
              <a:rect r="r" b="b" t="t" l="l"/>
              <a:pathLst>
                <a:path h="5651500" w="4536694">
                  <a:moveTo>
                    <a:pt x="0" y="0"/>
                  </a:moveTo>
                  <a:lnTo>
                    <a:pt x="4536694" y="0"/>
                  </a:lnTo>
                  <a:lnTo>
                    <a:pt x="4536694" y="5651500"/>
                  </a:lnTo>
                  <a:lnTo>
                    <a:pt x="0" y="565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7902" t="0" r="-8790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58931" y="2177532"/>
            <a:ext cx="3402559" cy="4238606"/>
            <a:chOff x="0" y="0"/>
            <a:chExt cx="4536745" cy="56514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36694" cy="5651500"/>
            </a:xfrm>
            <a:custGeom>
              <a:avLst/>
              <a:gdLst/>
              <a:ahLst/>
              <a:cxnLst/>
              <a:rect r="r" b="b" t="t" l="l"/>
              <a:pathLst>
                <a:path h="5651500" w="4536694">
                  <a:moveTo>
                    <a:pt x="0" y="0"/>
                  </a:moveTo>
                  <a:lnTo>
                    <a:pt x="4536694" y="0"/>
                  </a:lnTo>
                  <a:lnTo>
                    <a:pt x="4536694" y="5651500"/>
                  </a:lnTo>
                  <a:lnTo>
                    <a:pt x="0" y="565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7902" t="0" r="-8790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21748" y="2177532"/>
            <a:ext cx="3402559" cy="4238606"/>
            <a:chOff x="0" y="0"/>
            <a:chExt cx="4536745" cy="5651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36694" cy="5651500"/>
            </a:xfrm>
            <a:custGeom>
              <a:avLst/>
              <a:gdLst/>
              <a:ahLst/>
              <a:cxnLst/>
              <a:rect r="r" b="b" t="t" l="l"/>
              <a:pathLst>
                <a:path h="5651500" w="4536694">
                  <a:moveTo>
                    <a:pt x="0" y="0"/>
                  </a:moveTo>
                  <a:lnTo>
                    <a:pt x="4536694" y="0"/>
                  </a:lnTo>
                  <a:lnTo>
                    <a:pt x="4536694" y="5651500"/>
                  </a:lnTo>
                  <a:lnTo>
                    <a:pt x="0" y="565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7902" t="0" r="-8790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58931" y="2390058"/>
            <a:ext cx="3402559" cy="37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5"/>
              </a:lnSpc>
              <a:spcBef>
                <a:spcPct val="0"/>
              </a:spcBef>
            </a:pPr>
            <a:r>
              <a:rPr lang="en-US" sz="2499">
                <a:solidFill>
                  <a:srgbClr val="9F0000"/>
                </a:solidFill>
                <a:latin typeface="Montserrat"/>
                <a:ea typeface="Montserrat"/>
                <a:cs typeface="Montserrat"/>
                <a:sym typeface="Montserrat"/>
              </a:rPr>
              <a:t>Model Gap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0339" y="2390058"/>
            <a:ext cx="3402559" cy="37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5"/>
              </a:lnSpc>
              <a:spcBef>
                <a:spcPct val="0"/>
              </a:spcBef>
            </a:pPr>
            <a:r>
              <a:rPr lang="en-US" sz="2499">
                <a:solidFill>
                  <a:srgbClr val="C20101"/>
                </a:solidFill>
                <a:latin typeface="Montserrat"/>
                <a:ea typeface="Montserrat"/>
                <a:cs typeface="Montserrat"/>
                <a:sym typeface="Montserrat"/>
              </a:rPr>
              <a:t>Evaluation Gap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25460" y="2390058"/>
            <a:ext cx="3398846" cy="37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5"/>
              </a:lnSpc>
              <a:spcBef>
                <a:spcPct val="0"/>
              </a:spcBef>
            </a:pPr>
            <a:r>
              <a:rPr lang="en-US" sz="2499">
                <a:solidFill>
                  <a:srgbClr val="C20101"/>
                </a:solidFill>
                <a:latin typeface="Montserrat"/>
                <a:ea typeface="Montserrat"/>
                <a:cs typeface="Montserrat"/>
                <a:sym typeface="Montserrat"/>
              </a:rPr>
              <a:t>Benchmark Gap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8931" y="3983862"/>
            <a:ext cx="3402559" cy="625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Strong ASR models, but no explicit tone objective.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90339" y="3983862"/>
            <a:ext cx="3402559" cy="940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WER/CER miss Vietnamese-specific errors.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21748" y="3983862"/>
            <a:ext cx="3402559" cy="625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Limited controlled noisy-ASR analysis.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8931" y="7126156"/>
            <a:ext cx="3139232" cy="377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5"/>
              </a:lnSpc>
              <a:spcBef>
                <a:spcPct val="0"/>
              </a:spcBef>
            </a:pPr>
            <a:r>
              <a:rPr lang="en-US" b="true" sz="2499">
                <a:solidFill>
                  <a:srgbClr val="C2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Question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8931" y="7744042"/>
            <a:ext cx="13508274" cy="758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5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Does explicit tone supervision improve Vietnamese ASR robustness under controlled acoustic noise beyond ordinary noisy LoRA fine-tuning?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8931" y="8626648"/>
            <a:ext cx="13949362" cy="4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b="true" sz="2499">
                <a:solidFill>
                  <a:srgbClr val="C2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Direction:</a:t>
            </a: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PhoWhisper + LoRA + decoder-side tone head + Vietnamese-specific metrics.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64218" y="9877437"/>
            <a:ext cx="6923782" cy="4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8"/>
              </a:lnSpc>
              <a:spcBef>
                <a:spcPct val="0"/>
              </a:spcBef>
            </a:pPr>
            <a:r>
              <a:rPr lang="en-US" sz="20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Refs: Radford’23; Le’24; Hu’21; Snyder’15; Conneau’22</a:t>
            </a:r>
          </a:p>
        </p:txBody>
      </p:sp>
    </p:spTree>
  </p:cSld>
  <p:clrMapOvr>
    <a:masterClrMapping/>
  </p:clrMapOvr>
  <p:transition spd="fast">
    <p:cover dir="r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537" y="-1163945"/>
            <a:ext cx="18288000" cy="16403250"/>
            <a:chOff x="0" y="0"/>
            <a:chExt cx="24384000" cy="2187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871051"/>
            </a:xfrm>
            <a:custGeom>
              <a:avLst/>
              <a:gdLst/>
              <a:ahLst/>
              <a:cxnLst/>
              <a:rect r="r" b="b" t="t" l="l"/>
              <a:pathLst>
                <a:path h="2187105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871051"/>
                  </a:lnTo>
                  <a:lnTo>
                    <a:pt x="0" y="21871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9681" r="0" b="-196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28507" y="-377923"/>
            <a:ext cx="14014161" cy="14831225"/>
            <a:chOff x="0" y="0"/>
            <a:chExt cx="18685548" cy="19774967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8685511" cy="19774915"/>
            </a:xfrm>
            <a:custGeom>
              <a:avLst/>
              <a:gdLst/>
              <a:ahLst/>
              <a:cxnLst/>
              <a:rect r="r" b="b" t="t" l="l"/>
              <a:pathLst>
                <a:path h="19774915" w="18685511">
                  <a:moveTo>
                    <a:pt x="18685511" y="0"/>
                  </a:moveTo>
                  <a:lnTo>
                    <a:pt x="0" y="0"/>
                  </a:lnTo>
                  <a:lnTo>
                    <a:pt x="0" y="19774915"/>
                  </a:lnTo>
                  <a:lnTo>
                    <a:pt x="18685511" y="19774915"/>
                  </a:lnTo>
                  <a:lnTo>
                    <a:pt x="18685511" y="0"/>
                  </a:lnTo>
                  <a:close/>
                </a:path>
              </a:pathLst>
            </a:custGeom>
            <a:blipFill>
              <a:blip r:embed="rId3"/>
              <a:stretch>
                <a:fillRect l="0" t="-33991" r="0" b="-3399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54016" y="-377923"/>
            <a:ext cx="14014161" cy="14831225"/>
            <a:chOff x="0" y="0"/>
            <a:chExt cx="18685548" cy="197749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85511" cy="19774915"/>
            </a:xfrm>
            <a:custGeom>
              <a:avLst/>
              <a:gdLst/>
              <a:ahLst/>
              <a:cxnLst/>
              <a:rect r="r" b="b" t="t" l="l"/>
              <a:pathLst>
                <a:path h="19774915" w="18685511">
                  <a:moveTo>
                    <a:pt x="0" y="0"/>
                  </a:moveTo>
                  <a:lnTo>
                    <a:pt x="18685511" y="0"/>
                  </a:lnTo>
                  <a:lnTo>
                    <a:pt x="18685511" y="19774915"/>
                  </a:lnTo>
                  <a:lnTo>
                    <a:pt x="0" y="19774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991" r="0" b="-3399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914058" y="3432419"/>
            <a:ext cx="14404810" cy="14728974"/>
          </a:xfrm>
          <a:custGeom>
            <a:avLst/>
            <a:gdLst/>
            <a:ahLst/>
            <a:cxnLst/>
            <a:rect r="r" b="b" t="t" l="l"/>
            <a:pathLst>
              <a:path h="14728974" w="14404810">
                <a:moveTo>
                  <a:pt x="0" y="0"/>
                </a:moveTo>
                <a:lnTo>
                  <a:pt x="14404810" y="0"/>
                </a:lnTo>
                <a:lnTo>
                  <a:pt x="14404810" y="14728975"/>
                </a:lnTo>
                <a:lnTo>
                  <a:pt x="0" y="147289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53065" y="1516087"/>
            <a:ext cx="14728974" cy="14728974"/>
          </a:xfrm>
          <a:custGeom>
            <a:avLst/>
            <a:gdLst/>
            <a:ahLst/>
            <a:cxnLst/>
            <a:rect r="r" b="b" t="t" l="l"/>
            <a:pathLst>
              <a:path h="14728974" w="14728974">
                <a:moveTo>
                  <a:pt x="0" y="0"/>
                </a:moveTo>
                <a:lnTo>
                  <a:pt x="14728974" y="0"/>
                </a:lnTo>
                <a:lnTo>
                  <a:pt x="14728974" y="14728974"/>
                </a:lnTo>
                <a:lnTo>
                  <a:pt x="0" y="147289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39159" y="1516087"/>
            <a:ext cx="15209682" cy="8555446"/>
          </a:xfrm>
          <a:custGeom>
            <a:avLst/>
            <a:gdLst/>
            <a:ahLst/>
            <a:cxnLst/>
            <a:rect r="r" b="b" t="t" l="l"/>
            <a:pathLst>
              <a:path h="8555446" w="15209682">
                <a:moveTo>
                  <a:pt x="0" y="0"/>
                </a:moveTo>
                <a:lnTo>
                  <a:pt x="15209682" y="0"/>
                </a:lnTo>
                <a:lnTo>
                  <a:pt x="15209682" y="8555446"/>
                </a:lnTo>
                <a:lnTo>
                  <a:pt x="0" y="85554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306601" y="543038"/>
            <a:ext cx="9953862" cy="97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10"/>
              </a:lnSpc>
            </a:pPr>
            <a:r>
              <a:rPr lang="en-US" b="true" sz="5722">
                <a:solidFill>
                  <a:srgbClr val="C2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</a:t>
            </a:r>
            <a:r>
              <a:rPr lang="en-US" b="true" sz="5722">
                <a:solidFill>
                  <a:srgbClr val="C2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METHOD</a:t>
            </a:r>
          </a:p>
        </p:txBody>
      </p:sp>
    </p:spTree>
  </p:cSld>
  <p:clrMapOvr>
    <a:masterClrMapping/>
  </p:clrMapOvr>
  <p:transition spd="slow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4684" y="4332961"/>
            <a:ext cx="19050" cy="4043448"/>
            <a:chOff x="0" y="0"/>
            <a:chExt cx="25400" cy="53912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00"/>
              <a:ext cx="25400" cy="5365877"/>
            </a:xfrm>
            <a:custGeom>
              <a:avLst/>
              <a:gdLst/>
              <a:ahLst/>
              <a:cxnLst/>
              <a:rect r="r" b="b" t="t" l="l"/>
              <a:pathLst>
                <a:path h="5365877" w="25400">
                  <a:moveTo>
                    <a:pt x="25400" y="0"/>
                  </a:moveTo>
                  <a:lnTo>
                    <a:pt x="25400" y="5365877"/>
                  </a:lnTo>
                  <a:lnTo>
                    <a:pt x="0" y="53658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A2A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80469" y="2825467"/>
            <a:ext cx="5620379" cy="820426"/>
          </a:xfrm>
          <a:custGeom>
            <a:avLst/>
            <a:gdLst/>
            <a:ahLst/>
            <a:cxnLst/>
            <a:rect r="r" b="b" t="t" l="l"/>
            <a:pathLst>
              <a:path h="820426" w="5620379">
                <a:moveTo>
                  <a:pt x="0" y="0"/>
                </a:moveTo>
                <a:lnTo>
                  <a:pt x="5620379" y="0"/>
                </a:lnTo>
                <a:lnTo>
                  <a:pt x="5620379" y="820427"/>
                </a:lnTo>
                <a:lnTo>
                  <a:pt x="0" y="820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71053" y="2635348"/>
            <a:ext cx="5551246" cy="1166101"/>
            <a:chOff x="0" y="0"/>
            <a:chExt cx="7401662" cy="15548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01661" cy="1554805"/>
            </a:xfrm>
            <a:custGeom>
              <a:avLst/>
              <a:gdLst/>
              <a:ahLst/>
              <a:cxnLst/>
              <a:rect r="r" b="b" t="t" l="l"/>
              <a:pathLst>
                <a:path h="1554805" w="7401661">
                  <a:moveTo>
                    <a:pt x="0" y="0"/>
                  </a:moveTo>
                  <a:lnTo>
                    <a:pt x="7401661" y="0"/>
                  </a:lnTo>
                  <a:lnTo>
                    <a:pt x="7401661" y="1554805"/>
                  </a:lnTo>
                  <a:lnTo>
                    <a:pt x="0" y="1554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758" r="0" b="-4275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7401662" cy="1669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</a:pPr>
              <a:r>
                <a:rPr lang="en-US" sz="2499" b="true">
                  <a:solidFill>
                    <a:srgbClr val="9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&amp; Model</a:t>
              </a:r>
              <a:r>
                <a:rPr lang="en-US" sz="2499" b="true">
                  <a:solidFill>
                    <a:srgbClr val="9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Sources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009192" y="2825467"/>
            <a:ext cx="6372889" cy="832261"/>
          </a:xfrm>
          <a:custGeom>
            <a:avLst/>
            <a:gdLst/>
            <a:ahLst/>
            <a:cxnLst/>
            <a:rect r="r" b="b" t="t" l="l"/>
            <a:pathLst>
              <a:path h="832261" w="6372889">
                <a:moveTo>
                  <a:pt x="0" y="0"/>
                </a:moveTo>
                <a:lnTo>
                  <a:pt x="6372889" y="0"/>
                </a:lnTo>
                <a:lnTo>
                  <a:pt x="6372889" y="832261"/>
                </a:lnTo>
                <a:lnTo>
                  <a:pt x="0" y="8322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815920" y="2635348"/>
            <a:ext cx="6213138" cy="1166101"/>
            <a:chOff x="0" y="0"/>
            <a:chExt cx="8284185" cy="15548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84187" cy="1554805"/>
            </a:xfrm>
            <a:custGeom>
              <a:avLst/>
              <a:gdLst/>
              <a:ahLst/>
              <a:cxnLst/>
              <a:rect r="r" b="b" t="t" l="l"/>
              <a:pathLst>
                <a:path h="1554805" w="8284187">
                  <a:moveTo>
                    <a:pt x="0" y="0"/>
                  </a:moveTo>
                  <a:lnTo>
                    <a:pt x="8284187" y="0"/>
                  </a:lnTo>
                  <a:lnTo>
                    <a:pt x="8284187" y="1554805"/>
                  </a:lnTo>
                  <a:lnTo>
                    <a:pt x="0" y="1554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818" r="0" b="-538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8284185" cy="1669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</a:pPr>
              <a:r>
                <a:rPr lang="en-US" sz="2499" b="true">
                  <a:solidFill>
                    <a:srgbClr val="9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Noise</a:t>
              </a:r>
              <a:r>
                <a:rPr lang="en-US" sz="2499" b="true">
                  <a:solidFill>
                    <a:srgbClr val="9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Benchmark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937564" y="5519528"/>
            <a:ext cx="6358690" cy="799750"/>
          </a:xfrm>
          <a:custGeom>
            <a:avLst/>
            <a:gdLst/>
            <a:ahLst/>
            <a:cxnLst/>
            <a:rect r="r" b="b" t="t" l="l"/>
            <a:pathLst>
              <a:path h="799750" w="6358690">
                <a:moveTo>
                  <a:pt x="0" y="0"/>
                </a:moveTo>
                <a:lnTo>
                  <a:pt x="6358690" y="0"/>
                </a:lnTo>
                <a:lnTo>
                  <a:pt x="6358690" y="799750"/>
                </a:lnTo>
                <a:lnTo>
                  <a:pt x="0" y="799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986156" y="5321651"/>
            <a:ext cx="6105839" cy="1166101"/>
            <a:chOff x="0" y="0"/>
            <a:chExt cx="8141119" cy="1554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41126" cy="1554805"/>
            </a:xfrm>
            <a:custGeom>
              <a:avLst/>
              <a:gdLst/>
              <a:ahLst/>
              <a:cxnLst/>
              <a:rect r="r" b="b" t="t" l="l"/>
              <a:pathLst>
                <a:path h="1554805" w="8141126">
                  <a:moveTo>
                    <a:pt x="0" y="0"/>
                  </a:moveTo>
                  <a:lnTo>
                    <a:pt x="8141126" y="0"/>
                  </a:lnTo>
                  <a:lnTo>
                    <a:pt x="8141126" y="1554805"/>
                  </a:lnTo>
                  <a:lnTo>
                    <a:pt x="0" y="1554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025" r="0" b="-520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8141119" cy="1669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</a:pPr>
              <a:r>
                <a:rPr lang="en-US" sz="2499" b="true">
                  <a:solidFill>
                    <a:srgbClr val="9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</a:t>
              </a:r>
              <a:r>
                <a:rPr lang="en-US" sz="2499" b="true">
                  <a:solidFill>
                    <a:srgbClr val="9F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valuation Metrics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2955" y="2860034"/>
            <a:ext cx="742474" cy="751294"/>
            <a:chOff x="0" y="0"/>
            <a:chExt cx="989965" cy="1001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9965" cy="1001903"/>
            </a:xfrm>
            <a:custGeom>
              <a:avLst/>
              <a:gdLst/>
              <a:ahLst/>
              <a:cxnLst/>
              <a:rect r="r" b="b" t="t" l="l"/>
              <a:pathLst>
                <a:path h="1001903" w="989965">
                  <a:moveTo>
                    <a:pt x="495046" y="0"/>
                  </a:moveTo>
                  <a:cubicBezTo>
                    <a:pt x="626237" y="0"/>
                    <a:pt x="752221" y="52197"/>
                    <a:pt x="844931" y="145034"/>
                  </a:cubicBezTo>
                  <a:cubicBezTo>
                    <a:pt x="937641" y="237871"/>
                    <a:pt x="989965" y="363728"/>
                    <a:pt x="989965" y="495046"/>
                  </a:cubicBezTo>
                  <a:lnTo>
                    <a:pt x="989965" y="506857"/>
                  </a:lnTo>
                  <a:cubicBezTo>
                    <a:pt x="989965" y="780288"/>
                    <a:pt x="768350" y="1001903"/>
                    <a:pt x="495046" y="1001903"/>
                  </a:cubicBezTo>
                  <a:cubicBezTo>
                    <a:pt x="221742" y="1001903"/>
                    <a:pt x="0" y="780161"/>
                    <a:pt x="0" y="506730"/>
                  </a:cubicBezTo>
                  <a:lnTo>
                    <a:pt x="0" y="494919"/>
                  </a:lnTo>
                  <a:cubicBezTo>
                    <a:pt x="0" y="221615"/>
                    <a:pt x="221615" y="0"/>
                    <a:pt x="495046" y="0"/>
                  </a:cubicBezTo>
                  <a:close/>
                </a:path>
              </a:pathLst>
            </a:custGeom>
            <a:solidFill>
              <a:srgbClr val="9F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32955" y="2652630"/>
            <a:ext cx="742474" cy="1166101"/>
            <a:chOff x="0" y="0"/>
            <a:chExt cx="989965" cy="15548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9964" cy="1554805"/>
            </a:xfrm>
            <a:custGeom>
              <a:avLst/>
              <a:gdLst/>
              <a:ahLst/>
              <a:cxnLst/>
              <a:rect r="r" b="b" t="t" l="l"/>
              <a:pathLst>
                <a:path h="1554805" w="989964">
                  <a:moveTo>
                    <a:pt x="0" y="0"/>
                  </a:moveTo>
                  <a:lnTo>
                    <a:pt x="989964" y="0"/>
                  </a:lnTo>
                  <a:lnTo>
                    <a:pt x="989964" y="1554805"/>
                  </a:lnTo>
                  <a:lnTo>
                    <a:pt x="0" y="1554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508" t="0" r="-15150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989965" cy="1669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</a:pPr>
              <a:r>
                <a:rPr lang="en-US" sz="2499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74106" y="2825467"/>
            <a:ext cx="793813" cy="785860"/>
            <a:chOff x="0" y="0"/>
            <a:chExt cx="1058418" cy="10478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8418" cy="1047991"/>
            </a:xfrm>
            <a:custGeom>
              <a:avLst/>
              <a:gdLst/>
              <a:ahLst/>
              <a:cxnLst/>
              <a:rect r="r" b="b" t="t" l="l"/>
              <a:pathLst>
                <a:path h="1047991" w="1058418">
                  <a:moveTo>
                    <a:pt x="529277" y="0"/>
                  </a:moveTo>
                  <a:cubicBezTo>
                    <a:pt x="669539" y="0"/>
                    <a:pt x="804235" y="54599"/>
                    <a:pt x="903355" y="151707"/>
                  </a:cubicBezTo>
                  <a:cubicBezTo>
                    <a:pt x="1002476" y="248815"/>
                    <a:pt x="1058418" y="380463"/>
                    <a:pt x="1058418" y="517823"/>
                  </a:cubicBezTo>
                  <a:lnTo>
                    <a:pt x="1058418" y="530177"/>
                  </a:lnTo>
                  <a:cubicBezTo>
                    <a:pt x="1058418" y="816188"/>
                    <a:pt x="821479" y="1047991"/>
                    <a:pt x="529277" y="1047991"/>
                  </a:cubicBezTo>
                  <a:cubicBezTo>
                    <a:pt x="237075" y="1047991"/>
                    <a:pt x="0" y="816055"/>
                    <a:pt x="0" y="530044"/>
                  </a:cubicBezTo>
                  <a:lnTo>
                    <a:pt x="0" y="517690"/>
                  </a:lnTo>
                  <a:cubicBezTo>
                    <a:pt x="0" y="231811"/>
                    <a:pt x="236939" y="0"/>
                    <a:pt x="529277" y="0"/>
                  </a:cubicBezTo>
                  <a:close/>
                </a:path>
              </a:pathLst>
            </a:custGeom>
            <a:solidFill>
              <a:srgbClr val="9F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99775" y="2647926"/>
            <a:ext cx="742474" cy="1166098"/>
            <a:chOff x="0" y="0"/>
            <a:chExt cx="989965" cy="15547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9964" cy="1554801"/>
            </a:xfrm>
            <a:custGeom>
              <a:avLst/>
              <a:gdLst/>
              <a:ahLst/>
              <a:cxnLst/>
              <a:rect r="r" b="b" t="t" l="l"/>
              <a:pathLst>
                <a:path h="1554801" w="989964">
                  <a:moveTo>
                    <a:pt x="0" y="0"/>
                  </a:moveTo>
                  <a:lnTo>
                    <a:pt x="989964" y="0"/>
                  </a:lnTo>
                  <a:lnTo>
                    <a:pt x="989964" y="1554801"/>
                  </a:lnTo>
                  <a:lnTo>
                    <a:pt x="0" y="15548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508" t="0" r="-151508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989965" cy="1669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</a:pPr>
              <a:r>
                <a:rPr lang="en-US" sz="2499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74106" y="5529053"/>
            <a:ext cx="806642" cy="816224"/>
            <a:chOff x="0" y="0"/>
            <a:chExt cx="989965" cy="10017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89965" cy="1001903"/>
            </a:xfrm>
            <a:custGeom>
              <a:avLst/>
              <a:gdLst/>
              <a:ahLst/>
              <a:cxnLst/>
              <a:rect r="r" b="b" t="t" l="l"/>
              <a:pathLst>
                <a:path h="1001903" w="989965">
                  <a:moveTo>
                    <a:pt x="495046" y="0"/>
                  </a:moveTo>
                  <a:cubicBezTo>
                    <a:pt x="626237" y="0"/>
                    <a:pt x="752221" y="52197"/>
                    <a:pt x="844931" y="145034"/>
                  </a:cubicBezTo>
                  <a:cubicBezTo>
                    <a:pt x="937641" y="237871"/>
                    <a:pt x="989965" y="363728"/>
                    <a:pt x="989965" y="495046"/>
                  </a:cubicBezTo>
                  <a:lnTo>
                    <a:pt x="989965" y="506857"/>
                  </a:lnTo>
                  <a:cubicBezTo>
                    <a:pt x="989965" y="780288"/>
                    <a:pt x="768350" y="1001903"/>
                    <a:pt x="495046" y="1001903"/>
                  </a:cubicBezTo>
                  <a:cubicBezTo>
                    <a:pt x="221742" y="1001903"/>
                    <a:pt x="0" y="780161"/>
                    <a:pt x="0" y="506730"/>
                  </a:cubicBezTo>
                  <a:lnTo>
                    <a:pt x="0" y="494919"/>
                  </a:lnTo>
                  <a:cubicBezTo>
                    <a:pt x="0" y="221615"/>
                    <a:pt x="221615" y="0"/>
                    <a:pt x="495046" y="0"/>
                  </a:cubicBezTo>
                  <a:close/>
                </a:path>
              </a:pathLst>
            </a:custGeom>
            <a:solidFill>
              <a:srgbClr val="9F00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15920" y="5345879"/>
            <a:ext cx="742474" cy="1166098"/>
            <a:chOff x="0" y="0"/>
            <a:chExt cx="989965" cy="15547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9964" cy="1554801"/>
            </a:xfrm>
            <a:custGeom>
              <a:avLst/>
              <a:gdLst/>
              <a:ahLst/>
              <a:cxnLst/>
              <a:rect r="r" b="b" t="t" l="l"/>
              <a:pathLst>
                <a:path h="1554801" w="989964">
                  <a:moveTo>
                    <a:pt x="0" y="0"/>
                  </a:moveTo>
                  <a:lnTo>
                    <a:pt x="989964" y="0"/>
                  </a:lnTo>
                  <a:lnTo>
                    <a:pt x="989964" y="1554801"/>
                  </a:lnTo>
                  <a:lnTo>
                    <a:pt x="0" y="15548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1508" t="0" r="-151508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14300"/>
              <a:ext cx="989965" cy="1669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48"/>
                </a:lnSpc>
              </a:pPr>
              <a:r>
                <a:rPr lang="en-US" sz="2499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602150" y="815499"/>
            <a:ext cx="9685850" cy="95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C2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</a:t>
            </a:r>
            <a:r>
              <a:rPr lang="en-US" b="true" sz="5600">
                <a:solidFill>
                  <a:srgbClr val="C2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TASET &amp; EVALUATION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4546" y="4599626"/>
            <a:ext cx="4139625" cy="32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9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Vietnamese clean ASR speech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588919" y="4623249"/>
            <a:ext cx="4013230" cy="32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9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Noise for controlled SNR mixing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2107" y="4045302"/>
            <a:ext cx="3064503" cy="50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1"/>
              </a:lnSpc>
            </a:pPr>
            <a:r>
              <a:rPr lang="en-US" sz="302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VIVOS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92495" y="4056343"/>
            <a:ext cx="3806079" cy="50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1"/>
              </a:lnSpc>
            </a:pPr>
            <a:r>
              <a:rPr lang="en-US" sz="302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MUSAN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35961" y="4117102"/>
            <a:ext cx="6146121" cy="872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7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VIVOS test mixed with MUSAN noise</a:t>
            </a:r>
          </a:p>
          <a:p>
            <a:pPr algn="l">
              <a:lnSpc>
                <a:spcPts val="2390"/>
              </a:lnSpc>
            </a:pPr>
            <a:r>
              <a:rPr lang="en-US" sz="17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SNR: 20 / 10 / 5 / 0 dB</a:t>
            </a:r>
          </a:p>
          <a:p>
            <a:pPr algn="l">
              <a:lnSpc>
                <a:spcPts val="2390"/>
              </a:lnSpc>
            </a:pPr>
            <a:r>
              <a:rPr lang="en-US" sz="17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50 utt/SNR generated, 30 utt/SNR evaluated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35961" y="6757633"/>
            <a:ext cx="6745510" cy="146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7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WER: Word Error Rate</a:t>
            </a:r>
          </a:p>
          <a:p>
            <a:pPr algn="l">
              <a:lnSpc>
                <a:spcPts val="2390"/>
              </a:lnSpc>
            </a:pPr>
            <a:r>
              <a:rPr lang="en-US" sz="17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CER: Character Error Rate</a:t>
            </a:r>
          </a:p>
          <a:p>
            <a:pPr algn="l">
              <a:lnSpc>
                <a:spcPts val="2390"/>
              </a:lnSpc>
            </a:pPr>
            <a:r>
              <a:rPr lang="en-US" sz="17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TER-</a:t>
            </a:r>
            <a:r>
              <a:rPr lang="en-US" sz="17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simple: Tone Error Rate</a:t>
            </a:r>
          </a:p>
          <a:p>
            <a:pPr algn="l">
              <a:lnSpc>
                <a:spcPts val="2390"/>
              </a:lnSpc>
            </a:pPr>
            <a:r>
              <a:rPr lang="en-US" sz="17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DER-simple: Diacritic Error Rate</a:t>
            </a:r>
          </a:p>
          <a:p>
            <a:pPr algn="l">
              <a:lnSpc>
                <a:spcPts val="2390"/>
              </a:lnSpc>
            </a:pPr>
            <a:r>
              <a:rPr lang="en-US" sz="171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Lower is better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-1836985" y="8784248"/>
            <a:ext cx="5598633" cy="5591632"/>
            <a:chOff x="0" y="0"/>
            <a:chExt cx="7464844" cy="74555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64806" cy="7455535"/>
            </a:xfrm>
            <a:custGeom>
              <a:avLst/>
              <a:gdLst/>
              <a:ahLst/>
              <a:cxnLst/>
              <a:rect r="r" b="b" t="t" l="l"/>
              <a:pathLst>
                <a:path h="7455535" w="7464806">
                  <a:moveTo>
                    <a:pt x="0" y="0"/>
                  </a:moveTo>
                  <a:lnTo>
                    <a:pt x="7464806" y="0"/>
                  </a:lnTo>
                  <a:lnTo>
                    <a:pt x="7464806" y="7455535"/>
                  </a:lnTo>
                  <a:lnTo>
                    <a:pt x="0" y="7455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38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091995" y="5394767"/>
            <a:ext cx="6518291" cy="6510147"/>
            <a:chOff x="0" y="0"/>
            <a:chExt cx="8691054" cy="868019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691118" cy="8680196"/>
            </a:xfrm>
            <a:custGeom>
              <a:avLst/>
              <a:gdLst/>
              <a:ahLst/>
              <a:cxnLst/>
              <a:rect r="r" b="b" t="t" l="l"/>
              <a:pathLst>
                <a:path h="8680196" w="8691118">
                  <a:moveTo>
                    <a:pt x="0" y="0"/>
                  </a:moveTo>
                  <a:lnTo>
                    <a:pt x="8691118" y="0"/>
                  </a:lnTo>
                  <a:lnTo>
                    <a:pt x="8691118" y="8680196"/>
                  </a:lnTo>
                  <a:lnTo>
                    <a:pt x="0" y="8680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46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646271" y="9877437"/>
            <a:ext cx="7641729" cy="4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8"/>
              </a:lnSpc>
              <a:spcBef>
                <a:spcPct val="0"/>
              </a:spcBef>
            </a:pPr>
            <a:r>
              <a:rPr lang="en-US" sz="20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Refs: AILAB/VIVOS; Conneau et al. 2022; Snyder et al. 2015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3693" y="7033858"/>
            <a:ext cx="4139625" cy="327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9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Optional external eval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2931" y="5751027"/>
            <a:ext cx="3064503" cy="103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1"/>
              </a:lnSpc>
            </a:pPr>
            <a:r>
              <a:rPr lang="en-US" sz="302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FLEURS Vietnamese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833319" y="5951052"/>
            <a:ext cx="3806079" cy="509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1"/>
              </a:lnSpc>
            </a:pPr>
            <a:r>
              <a:rPr lang="en-US" sz="302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PhoWhisper-base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692495" y="7033858"/>
            <a:ext cx="4013230" cy="32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sz="19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fine-tuning base model</a:t>
            </a:r>
          </a:p>
        </p:txBody>
      </p:sp>
    </p:spTree>
  </p:cSld>
  <p:clrMapOvr>
    <a:masterClrMapping/>
  </p:clrMapOvr>
  <p:transition spd="fast">
    <p:circl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83987" y="6488773"/>
            <a:ext cx="6029563" cy="6022029"/>
            <a:chOff x="0" y="0"/>
            <a:chExt cx="8039418" cy="80293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39481" cy="8029321"/>
            </a:xfrm>
            <a:custGeom>
              <a:avLst/>
              <a:gdLst/>
              <a:ahLst/>
              <a:cxnLst/>
              <a:rect r="r" b="b" t="t" l="l"/>
              <a:pathLst>
                <a:path h="8029321" w="8039481">
                  <a:moveTo>
                    <a:pt x="0" y="0"/>
                  </a:moveTo>
                  <a:lnTo>
                    <a:pt x="8039481" y="0"/>
                  </a:lnTo>
                  <a:lnTo>
                    <a:pt x="8039481" y="8029321"/>
                  </a:lnTo>
                  <a:lnTo>
                    <a:pt x="0" y="8029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1000"/>
              </a:blip>
              <a:stretch>
                <a:fillRect l="-18" t="0" r="-1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530795" y="1572835"/>
          <a:ext cx="9148316" cy="2442785"/>
        </p:xfrm>
        <a:graphic>
          <a:graphicData uri="http://schemas.openxmlformats.org/drawingml/2006/table">
            <a:tbl>
              <a:tblPr/>
              <a:tblGrid>
                <a:gridCol w="1668017"/>
                <a:gridCol w="805837"/>
                <a:gridCol w="1267789"/>
                <a:gridCol w="1218919"/>
                <a:gridCol w="2068694"/>
                <a:gridCol w="2119059"/>
              </a:tblGrid>
              <a:tr h="8127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DER-simple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TER-simple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CER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Condition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WER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7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12.22%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23.13%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19.61%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Clean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43.06%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72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25.98%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23.55%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Noisy 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47.95%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144000" y="4222256"/>
          <a:ext cx="8580239" cy="4533033"/>
        </p:xfrm>
        <a:graphic>
          <a:graphicData uri="http://schemas.openxmlformats.org/drawingml/2006/table">
            <a:tbl>
              <a:tblPr/>
              <a:tblGrid>
                <a:gridCol w="1129561"/>
                <a:gridCol w="718458"/>
                <a:gridCol w="1274568"/>
                <a:gridCol w="1268738"/>
                <a:gridCol w="2069267"/>
                <a:gridCol w="2119646"/>
              </a:tblGrid>
              <a:tr h="113866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DER-simple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TER-simple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CER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SNR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WER 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5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10.17%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21.00%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20.02%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43.42%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5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9.62%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25.62%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24.02%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49.82%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5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11.24%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25.62%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22.39%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45.55%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85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12.41%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31.67%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27.78%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 dB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2"/>
                        </a:lnSpc>
                        <a:defRPr/>
                      </a:pPr>
                      <a:r>
                        <a:rPr lang="en-US" sz="1902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53.02%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3235249" y="971550"/>
            <a:ext cx="4488990" cy="209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33"/>
              </a:lnSpc>
            </a:pPr>
            <a:r>
              <a:rPr lang="en-US" b="true" sz="6409">
                <a:solidFill>
                  <a:srgbClr val="9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MIDTERM</a:t>
            </a:r>
            <a:r>
              <a:rPr lang="en-US" b="true" sz="6409">
                <a:solidFill>
                  <a:srgbClr val="9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8598" y="9144000"/>
            <a:ext cx="15931458" cy="4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8"/>
              </a:lnSpc>
              <a:spcBef>
                <a:spcPct val="0"/>
              </a:spcBef>
            </a:pPr>
            <a:r>
              <a:rPr lang="en-US" b="true" sz="2499">
                <a:solidFill>
                  <a:srgbClr val="9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Baseline: Whisper-base + forced Vietnamese decoding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0795" y="4893323"/>
            <a:ext cx="7994532" cy="309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176" indent="-226588" lvl="1">
              <a:lnSpc>
                <a:spcPts val="3568"/>
              </a:lnSpc>
              <a:buFont typeface="Arial"/>
              <a:buChar char="•"/>
            </a:pPr>
            <a:r>
              <a:rPr lang="en-US" sz="2099">
                <a:solidFill>
                  <a:srgbClr val="9F0000"/>
                </a:solidFill>
                <a:latin typeface="Montserrat"/>
                <a:ea typeface="Montserrat"/>
                <a:cs typeface="Montserrat"/>
                <a:sym typeface="Montserrat"/>
              </a:rPr>
              <a:t>Noise increases WER/CER compared with clean speech.</a:t>
            </a:r>
          </a:p>
          <a:p>
            <a:pPr algn="l">
              <a:lnSpc>
                <a:spcPts val="3568"/>
              </a:lnSpc>
            </a:pPr>
          </a:p>
          <a:p>
            <a:pPr algn="l" marL="453176" indent="-226588" lvl="1">
              <a:lnSpc>
                <a:spcPts val="3568"/>
              </a:lnSpc>
              <a:buFont typeface="Arial"/>
              <a:buChar char="•"/>
            </a:pPr>
            <a:r>
              <a:rPr lang="en-US" sz="2099">
                <a:solidFill>
                  <a:srgbClr val="9F0000"/>
                </a:solidFill>
                <a:latin typeface="Montserrat"/>
                <a:ea typeface="Montserrat"/>
                <a:cs typeface="Montserrat"/>
                <a:sym typeface="Montserrat"/>
              </a:rPr>
              <a:t>The hardest setting is 0 dB, with WER = 53.02% and CER = 27.78%.</a:t>
            </a:r>
          </a:p>
          <a:p>
            <a:pPr algn="l">
              <a:lnSpc>
                <a:spcPts val="3568"/>
              </a:lnSpc>
            </a:pPr>
          </a:p>
          <a:p>
            <a:pPr algn="l" marL="453176" indent="-226588" lvl="1">
              <a:lnSpc>
                <a:spcPts val="3568"/>
              </a:lnSpc>
              <a:buFont typeface="Arial"/>
              <a:buChar char="•"/>
            </a:pPr>
            <a:r>
              <a:rPr lang="en-US" sz="2099">
                <a:solidFill>
                  <a:srgbClr val="9F0000"/>
                </a:solidFill>
                <a:latin typeface="Montserrat"/>
                <a:ea typeface="Montserrat"/>
                <a:cs typeface="Montserrat"/>
                <a:sym typeface="Montserrat"/>
              </a:rPr>
              <a:t>Forced Vietnamese decoding gives only small gains, so the next step is LoRA fine-tuning and tone-aware MTL.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97429" y="4451032"/>
            <a:ext cx="6239180" cy="1640215"/>
          </a:xfrm>
          <a:custGeom>
            <a:avLst/>
            <a:gdLst/>
            <a:ahLst/>
            <a:cxnLst/>
            <a:rect r="r" b="b" t="t" l="l"/>
            <a:pathLst>
              <a:path h="1640215" w="6239180">
                <a:moveTo>
                  <a:pt x="0" y="0"/>
                </a:moveTo>
                <a:lnTo>
                  <a:pt x="6239179" y="0"/>
                </a:lnTo>
                <a:lnTo>
                  <a:pt x="6239179" y="1640215"/>
                </a:lnTo>
                <a:lnTo>
                  <a:pt x="0" y="1640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97429" y="7282710"/>
            <a:ext cx="6239180" cy="1640215"/>
          </a:xfrm>
          <a:custGeom>
            <a:avLst/>
            <a:gdLst/>
            <a:ahLst/>
            <a:cxnLst/>
            <a:rect r="r" b="b" t="t" l="l"/>
            <a:pathLst>
              <a:path h="1640215" w="6239180">
                <a:moveTo>
                  <a:pt x="0" y="0"/>
                </a:moveTo>
                <a:lnTo>
                  <a:pt x="6239179" y="0"/>
                </a:lnTo>
                <a:lnTo>
                  <a:pt x="6239179" y="1640215"/>
                </a:lnTo>
                <a:lnTo>
                  <a:pt x="0" y="1640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757549" y="8342500"/>
            <a:ext cx="9415653" cy="9403880"/>
            <a:chOff x="0" y="0"/>
            <a:chExt cx="12554204" cy="125385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54204" cy="12538456"/>
            </a:xfrm>
            <a:custGeom>
              <a:avLst/>
              <a:gdLst/>
              <a:ahLst/>
              <a:cxnLst/>
              <a:rect r="r" b="b" t="t" l="l"/>
              <a:pathLst>
                <a:path h="12538456" w="12554204">
                  <a:moveTo>
                    <a:pt x="0" y="0"/>
                  </a:moveTo>
                  <a:lnTo>
                    <a:pt x="12554204" y="0"/>
                  </a:lnTo>
                  <a:lnTo>
                    <a:pt x="12554204" y="12538456"/>
                  </a:lnTo>
                  <a:lnTo>
                    <a:pt x="0" y="12538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264580" y="734623"/>
            <a:ext cx="5221825" cy="102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1"/>
              </a:lnSpc>
            </a:pPr>
            <a:r>
              <a:rPr lang="en-US" b="true" sz="6399">
                <a:solidFill>
                  <a:srgbClr val="C2010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95254" y="7218321"/>
            <a:ext cx="352015" cy="1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9"/>
              </a:lnSpc>
            </a:pPr>
            <a:r>
              <a:rPr lang="en-US" sz="122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31723" y="6048489"/>
            <a:ext cx="370780" cy="1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9"/>
              </a:lnSpc>
            </a:pPr>
            <a:r>
              <a:rPr lang="en-US" sz="122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02503" y="5235994"/>
            <a:ext cx="292751" cy="1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9"/>
              </a:lnSpc>
            </a:pPr>
            <a:r>
              <a:rPr lang="en-US" sz="122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39637" y="4867485"/>
            <a:ext cx="254457" cy="1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9"/>
              </a:lnSpc>
            </a:pPr>
            <a:r>
              <a:rPr lang="en-US" sz="122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5%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9086" y="2278620"/>
            <a:ext cx="10669829" cy="3573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96"/>
              </a:lnSpc>
            </a:pPr>
            <a:r>
              <a:rPr lang="en-US" b="true" sz="20926">
                <a:gradFill>
                  <a:gsLst>
                    <a:gs pos="0">
                      <a:srgbClr val="A42D2D">
                        <a:alpha val="100000"/>
                      </a:srgbClr>
                    </a:gs>
                    <a:gs pos="100000">
                      <a:srgbClr val="E52B2B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038092" y="9948558"/>
            <a:ext cx="20364183" cy="28575"/>
            <a:chOff x="0" y="0"/>
            <a:chExt cx="27152244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9050" y="0"/>
              <a:ext cx="27114119" cy="38100"/>
            </a:xfrm>
            <a:custGeom>
              <a:avLst/>
              <a:gdLst/>
              <a:ahLst/>
              <a:cxnLst/>
              <a:rect r="r" b="b" t="t" l="l"/>
              <a:pathLst>
                <a:path h="38100" w="27114119">
                  <a:moveTo>
                    <a:pt x="0" y="0"/>
                  </a:moveTo>
                  <a:lnTo>
                    <a:pt x="27114119" y="0"/>
                  </a:lnTo>
                  <a:lnTo>
                    <a:pt x="2711411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927803" y="7524264"/>
            <a:ext cx="4255970" cy="4255970"/>
          </a:xfrm>
          <a:custGeom>
            <a:avLst/>
            <a:gdLst/>
            <a:ahLst/>
            <a:cxnLst/>
            <a:rect r="r" b="b" t="t" l="l"/>
            <a:pathLst>
              <a:path h="4255970" w="4255970">
                <a:moveTo>
                  <a:pt x="0" y="0"/>
                </a:moveTo>
                <a:lnTo>
                  <a:pt x="4255970" y="0"/>
                </a:lnTo>
                <a:lnTo>
                  <a:pt x="4255970" y="4255970"/>
                </a:lnTo>
                <a:lnTo>
                  <a:pt x="0" y="4255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9574500">
            <a:off x="11353762" y="-1240965"/>
            <a:ext cx="6066406" cy="6066406"/>
          </a:xfrm>
          <a:custGeom>
            <a:avLst/>
            <a:gdLst/>
            <a:ahLst/>
            <a:cxnLst/>
            <a:rect r="r" b="b" t="t" l="l"/>
            <a:pathLst>
              <a:path h="6066406" w="6066406">
                <a:moveTo>
                  <a:pt x="0" y="0"/>
                </a:moveTo>
                <a:lnTo>
                  <a:pt x="6066406" y="0"/>
                </a:lnTo>
                <a:lnTo>
                  <a:pt x="6066406" y="6066406"/>
                </a:lnTo>
                <a:lnTo>
                  <a:pt x="0" y="6066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7346261"/>
            <a:ext cx="18288000" cy="6423660"/>
          </a:xfrm>
          <a:custGeom>
            <a:avLst/>
            <a:gdLst/>
            <a:ahLst/>
            <a:cxnLst/>
            <a:rect r="r" b="b" t="t" l="l"/>
            <a:pathLst>
              <a:path h="6423660" w="18288000">
                <a:moveTo>
                  <a:pt x="0" y="0"/>
                </a:moveTo>
                <a:lnTo>
                  <a:pt x="18288000" y="0"/>
                </a:lnTo>
                <a:lnTo>
                  <a:pt x="18288000" y="6423660"/>
                </a:lnTo>
                <a:lnTo>
                  <a:pt x="0" y="6423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2" r="0" b="-19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91711" y="3628622"/>
            <a:ext cx="4999157" cy="450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71"/>
              </a:lnSpc>
            </a:pPr>
            <a:r>
              <a:rPr lang="en-US" sz="26336">
                <a:solidFill>
                  <a:srgbClr val="191919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You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256314" y="984708"/>
            <a:ext cx="4971306" cy="95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9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REFERENCES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2191" y="10427"/>
            <a:ext cx="3836641" cy="1079055"/>
          </a:xfrm>
          <a:custGeom>
            <a:avLst/>
            <a:gdLst/>
            <a:ahLst/>
            <a:cxnLst/>
            <a:rect r="r" b="b" t="t" l="l"/>
            <a:pathLst>
              <a:path h="1079055" w="3836641">
                <a:moveTo>
                  <a:pt x="0" y="0"/>
                </a:moveTo>
                <a:lnTo>
                  <a:pt x="3836641" y="0"/>
                </a:lnTo>
                <a:lnTo>
                  <a:pt x="3836641" y="1079056"/>
                </a:lnTo>
                <a:lnTo>
                  <a:pt x="0" y="1079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534153"/>
            <a:ext cx="17259300" cy="4083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[1] A. Radford et al., “Robust Speech Recognition via Large-Scale Weak Supervision,” ICML, 2023.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[2] T. T. Le et al., “PhoWhisper: Automatic Speech Recognition for Vietnamese,” 2024.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[3] E. J. Hu et al., “LoRA: Low-Rank Adaptation of Large Language Models,” 2021.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[4] D. Snyder, G. Chen, and D. Povey, “MUSAN: A Music, Speech, and Noise Corpus,” 2015.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[5] A. Conneau et al., “FLEURS: Few-shot Learning Evaluation of Universal Representations of Speech,” 2022.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[6] AILAB, VNUHCM-University of Science, “VIVOS: Vietnamese Speech Corpus for ASR.”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[7] D. S. Park et al., “SpecAugment: A Simple Data Augmentation Method for Automatic Speech Recognition,” Interspeech, 2019.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[8] J. Kirby, “Dialect experience in Vietnamese tone perception,” JASA, 2010.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[9] AILAB, VNUHCM-University of Science, “VIVOS: Vietnamese Speech Corpus for ASR.”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[10] A. Conneau et al., “FLEURS: Few-shot Learning Evaluation of Universal Representations of Speech,” 2022.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[11] D. Snyder, G. Chen, and D. Povey, “MUSAN: A Music, Speech, and Noise Corpus,” 2015.</a:t>
            </a:r>
          </a:p>
          <a:p>
            <a:pPr algn="l" marL="453390" indent="-226695" lvl="1">
              <a:lnSpc>
                <a:spcPts val="2541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[12] L. Do et al., “VietSuperSpeech: A Large-Scale Vietnamese Conversational Speech Dataset,” 2026. Optional.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DAHMIm3mAxE</dc:identifier>
  <dcterms:modified xsi:type="dcterms:W3CDTF">2011-08-01T06:04:30Z</dcterms:modified>
  <cp:revision>1</cp:revision>
  <dc:title>SLP - Midterm SU2026</dc:title>
</cp:coreProperties>
</file>