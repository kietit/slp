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c2bda7bc7744a4" /><Relationship Type="http://schemas.openxmlformats.org/officeDocument/2006/relationships/extended-properties" Target="/docProps/app.xml" Id="Rdc6d63cb327f462f" /><Relationship Type="http://schemas.openxmlformats.org/officeDocument/2006/relationships/officeDocument" Target="/ppt/presentation.xml" Id="R21113a03fee3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f8ee9100a4778"/>
  </p:sldMasterIdLst>
  <p:notesMasterIdLst>
    <p:notesMasterId xmlns:r="http://schemas.openxmlformats.org/officeDocument/2006/relationships" r:id="R1e6c24ba05734355"/>
  </p:notesMasterIdLst>
  <p:sldIdLst>
    <p:sldId xmlns:r="http://schemas.openxmlformats.org/officeDocument/2006/relationships" id="256" r:id="Re9b95887bbd84239"/>
    <p:sldId xmlns:r="http://schemas.openxmlformats.org/officeDocument/2006/relationships" id="257" r:id="Re4b1b6706956467c"/>
    <p:sldId xmlns:r="http://schemas.openxmlformats.org/officeDocument/2006/relationships" id="258" r:id="R93e74820b0224214"/>
    <p:sldId xmlns:r="http://schemas.openxmlformats.org/officeDocument/2006/relationships" id="259" r:id="Rfa1386145b4341f4"/>
    <p:sldId xmlns:r="http://schemas.openxmlformats.org/officeDocument/2006/relationships" id="260" r:id="R5a1111fc5ff74e11"/>
    <p:sldId xmlns:r="http://schemas.openxmlformats.org/officeDocument/2006/relationships" id="261" r:id="R6015a4a7f04449b4"/>
    <p:sldId xmlns:r="http://schemas.openxmlformats.org/officeDocument/2006/relationships" id="262" r:id="Re0c3075ef59f44e5"/>
    <p:sldId xmlns:r="http://schemas.openxmlformats.org/officeDocument/2006/relationships" id="263" r:id="R47d9a87e86084f51"/>
    <p:sldId xmlns:r="http://schemas.openxmlformats.org/officeDocument/2006/relationships" id="264" r:id="R4cbd543779984d2e"/>
    <p:sldId xmlns:r="http://schemas.openxmlformats.org/officeDocument/2006/relationships" id="265" r:id="Rda178061b2b14b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dbabf04ea4047" /><Relationship Type="http://schemas.openxmlformats.org/officeDocument/2006/relationships/slideMaster" Target="/ppt/slideMasters/slideMaster1.xml" Id="R4bdf8ee9100a4778" /><Relationship Type="http://schemas.openxmlformats.org/officeDocument/2006/relationships/notesMaster" Target="/ppt/notesMasters/notesMaster1.xml" Id="R1e6c24ba05734355" /><Relationship Type="http://schemas.openxmlformats.org/officeDocument/2006/relationships/presProps" Target="/ppt/presProps.xml" Id="R60038928cf064fb1" /><Relationship Type="http://schemas.openxmlformats.org/officeDocument/2006/relationships/viewProps" Target="/ppt/viewProps.xml" Id="Reee8e5a1d20747fb" /><Relationship Type="http://schemas.openxmlformats.org/officeDocument/2006/relationships/tableStyles" Target="/ppt/tableStyles.xml" Id="R339ac1f0bf714ea4" /><Relationship Type="http://schemas.openxmlformats.org/officeDocument/2006/relationships/slide" Target="/ppt/slides/slide1.xml" Id="Re9b95887bbd84239" /><Relationship Type="http://schemas.openxmlformats.org/officeDocument/2006/relationships/slide" Target="/ppt/slides/slide2.xml" Id="Re4b1b6706956467c" /><Relationship Type="http://schemas.openxmlformats.org/officeDocument/2006/relationships/slide" Target="/ppt/slides/slide3.xml" Id="R93e74820b0224214" /><Relationship Type="http://schemas.openxmlformats.org/officeDocument/2006/relationships/slide" Target="/ppt/slides/slide4.xml" Id="Rfa1386145b4341f4" /><Relationship Type="http://schemas.openxmlformats.org/officeDocument/2006/relationships/slide" Target="/ppt/slides/slide5.xml" Id="R5a1111fc5ff74e11" /><Relationship Type="http://schemas.openxmlformats.org/officeDocument/2006/relationships/slide" Target="/ppt/slides/slide6.xml" Id="R6015a4a7f04449b4" /><Relationship Type="http://schemas.openxmlformats.org/officeDocument/2006/relationships/slide" Target="/ppt/slides/slide7.xml" Id="Re0c3075ef59f44e5" /><Relationship Type="http://schemas.openxmlformats.org/officeDocument/2006/relationships/slide" Target="/ppt/slides/slide8.xml" Id="R47d9a87e86084f51" /><Relationship Type="http://schemas.openxmlformats.org/officeDocument/2006/relationships/slide" Target="/ppt/slides/slide9.xml" Id="R4cbd543779984d2e" /><Relationship Type="http://schemas.openxmlformats.org/officeDocument/2006/relationships/slide" Target="/ppt/slides/slide10.xml" Id="Rda178061b2b14b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cf6b5eb1f44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8ec92fa244291" /><Relationship Type="http://schemas.openxmlformats.org/officeDocument/2006/relationships/notesMaster" Target="/ppt/notesMasters/notesMaster1.xml" Id="Ref0eb54fa1424a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32b36f8444c9b" /><Relationship Type="http://schemas.openxmlformats.org/officeDocument/2006/relationships/notesMaster" Target="/ppt/notesMasters/notesMaster1.xml" Id="Rde317e1cfb9840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330c9cf30f43b2" /><Relationship Type="http://schemas.openxmlformats.org/officeDocument/2006/relationships/notesMaster" Target="/ppt/notesMasters/notesMaster1.xml" Id="Rd414ccb06e22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32f58208e4cf5" /><Relationship Type="http://schemas.openxmlformats.org/officeDocument/2006/relationships/notesMaster" Target="/ppt/notesMasters/notesMaster1.xml" Id="R290f38c2a787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0081099664d1d" /><Relationship Type="http://schemas.openxmlformats.org/officeDocument/2006/relationships/notesMaster" Target="/ppt/notesMasters/notesMaster1.xml" Id="R965541c4338b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5ab0263adc4015" /><Relationship Type="http://schemas.openxmlformats.org/officeDocument/2006/relationships/notesMaster" Target="/ppt/notesMasters/notesMaster1.xml" Id="R36e1e6007df343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3e7ad834434345" /><Relationship Type="http://schemas.openxmlformats.org/officeDocument/2006/relationships/notesMaster" Target="/ppt/notesMasters/notesMaster1.xml" Id="R76144aaf590942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0ca084a3d043c9" /><Relationship Type="http://schemas.openxmlformats.org/officeDocument/2006/relationships/notesMaster" Target="/ppt/notesMasters/notesMaster1.xml" Id="R8babc9ce6b4e47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3881da63f467b" /><Relationship Type="http://schemas.openxmlformats.org/officeDocument/2006/relationships/notesMaster" Target="/ppt/notesMasters/notesMaster1.xml" Id="R68bda68b464c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335ab2f8424388" /><Relationship Type="http://schemas.openxmlformats.org/officeDocument/2006/relationships/notesMaster" Target="/ppt/notesMasters/notesMaster1.xml" Id="R3632bd6f5d64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38623fcf8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ab0b6a10a44fa4" /><Relationship Type="http://schemas.openxmlformats.org/officeDocument/2006/relationships/slideLayout" Target="/ppt/slideLayouts/slideLayout1.xml" Id="R504822f93efa42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822f93efa42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6d845e6d044be" /><Relationship Type="http://schemas.openxmlformats.org/officeDocument/2006/relationships/image" Target="/ppt/media/image.png" Id="Rb58f0ccf84b74bea" /><Relationship Type="http://schemas.openxmlformats.org/officeDocument/2006/relationships/notesSlide" Target="/ppt/notesSlides/notesSlide1.xml" Id="R1d77af8acf284b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b80dcda84a84" /><Relationship Type="http://schemas.openxmlformats.org/officeDocument/2006/relationships/image" Target="/ppt/media/image2.png" Id="R0f816202ee7d4e48" /><Relationship Type="http://schemas.openxmlformats.org/officeDocument/2006/relationships/notesSlide" Target="/ppt/notesSlides/notesSlide2.xml" Id="R5393fab28658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3de9918f542b7" /><Relationship Type="http://schemas.openxmlformats.org/officeDocument/2006/relationships/image" Target="/ppt/media/image3.png" Id="R2718dfb9f03649b8" /><Relationship Type="http://schemas.openxmlformats.org/officeDocument/2006/relationships/notesSlide" Target="/ppt/notesSlides/notesSlide3.xml" Id="R2dea7bd6ec9c4a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747aac8b47a3" /><Relationship Type="http://schemas.openxmlformats.org/officeDocument/2006/relationships/image" Target="/ppt/media/image4.png" Id="Rc1ddeab859574567" /><Relationship Type="http://schemas.openxmlformats.org/officeDocument/2006/relationships/notesSlide" Target="/ppt/notesSlides/notesSlide4.xml" Id="Ra3182fde60454f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bf111991e4630" /><Relationship Type="http://schemas.openxmlformats.org/officeDocument/2006/relationships/image" Target="/ppt/media/image5.png" Id="R0e1a7870d7074304" /><Relationship Type="http://schemas.openxmlformats.org/officeDocument/2006/relationships/notesSlide" Target="/ppt/notesSlides/notesSlide5.xml" Id="R34c70cb8c927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73744c2fa4669" /><Relationship Type="http://schemas.openxmlformats.org/officeDocument/2006/relationships/image" Target="/ppt/media/image6.png" Id="R60ca9c0c580b47d0" /><Relationship Type="http://schemas.openxmlformats.org/officeDocument/2006/relationships/notesSlide" Target="/ppt/notesSlides/notesSlide6.xml" Id="Re8cd8deceda346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fc5ac5eb2411e" /><Relationship Type="http://schemas.openxmlformats.org/officeDocument/2006/relationships/image" Target="/ppt/media/image7.png" Id="Rc5b0fd49abe94b6d" /><Relationship Type="http://schemas.openxmlformats.org/officeDocument/2006/relationships/notesSlide" Target="/ppt/notesSlides/notesSlide7.xml" Id="R0f6cb5364c0d40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800cfc03c4fb2" /><Relationship Type="http://schemas.openxmlformats.org/officeDocument/2006/relationships/image" Target="/ppt/media/image8.png" Id="R9f2770cd8c4e4bf3" /><Relationship Type="http://schemas.openxmlformats.org/officeDocument/2006/relationships/notesSlide" Target="/ppt/notesSlides/notesSlide8.xml" Id="Rcaea309dc3a146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a5fa445a54e36" /><Relationship Type="http://schemas.openxmlformats.org/officeDocument/2006/relationships/image" Target="/ppt/media/image9.png" Id="R135dc2b7fbcc4a27" /><Relationship Type="http://schemas.openxmlformats.org/officeDocument/2006/relationships/notesSlide" Target="/ppt/notesSlides/notesSlide9.xml" Id="Rb2b0ae7ce9574b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422c0e7a543bb" /><Relationship Type="http://schemas.openxmlformats.org/officeDocument/2006/relationships/image" Target="/ppt/media/image10.png" Id="R4c5e9849024e4178" /><Relationship Type="http://schemas.openxmlformats.org/officeDocument/2006/relationships/notesSlide" Target="/ppt/notesSlides/notesSlide10.xml" Id="R61bf76f6cd314b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0801A-3680-4280-B000-FC50970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247B4-2AA5-46E8-92DD-A71BCEC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0F425-CB97-4DE0-A66D-B3AA508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1C556-DECA-4FA4-9EA6-BFD7EF1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CF562-3E62-4DE2-A07E-86C43739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BD6AB-2AE2-4128-B319-7B6481F8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f0ccf84b74bea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4AF9B-8D4A-4C05-8FF7-A3E2B84C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BE0D4-0756-45AB-BB80-7BABBB6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9906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TONE-AWARE LORA ADAPTATION OF PHOWHISPER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67346-82C9-498D-9E2F-CC0A112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For noise-robust Vietnamese ASR under controlled acoustic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00E76-F2D5-4FFD-B949-1344E94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E5560-AA41-44D6-8187-F21FE56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Nguyen Xuan Trung - SE193716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Trinh Vy Kiet - SE192636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Nguyen Thanh Phat - SE192617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Pham Hoang Phuc - SE192874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3983F-ADD7-40C3-8205-D506BF4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AF6C3-8B18-4F13-93D9-A204055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Pipeline 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94780-8772-42AB-9F70-0B3A20A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44F37-D12D-456F-9090-060EA68D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Baseline 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92E8A-DABA-4797-84C9-5A3264C1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958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A80C6-8B55-4416-8E18-DC90CC42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435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LoRA planned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1E883-5F88-4412-8C6C-C7ED576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44D3E-BE47-45AC-BF8A-1C94ED71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0417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79694-4C3F-4906-9831-39C529F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0F0A9-5748-489D-8F58-5846E040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A3D79-6606-4CDD-9F47-E8B1847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F4BC4-246D-4949-AAAA-337EBA6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7793-7624-490E-8EA8-59810D2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54872-6A27-4196-A353-E8C6E9F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16202ee7d4e48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03F07-B4BE-4A15-8B95-3A01FAD5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TABLE OF CONTENTS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F516B-6BAD-4F69-9C52-062A779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the project has done and what remains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2E18D-E952-48D4-8B29-19E6AB6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78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CF792-F402-436D-8E4C-3480053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CB9B4-C3C9-4C6B-8D1B-CDC283B5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2407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Motivation and 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13789-2EE8-4E6E-BFB3-5A0FD2F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982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Why Vietnamese ASR needs tone-aware robustness.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96BFA-7158-44DF-837F-42F1FFFD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78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32F4B-7F50-41F6-9708-1320B34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F7089-56E4-429E-9EBF-A0275AA5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Research Gap and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7E742-8055-4A08-8355-7EA250E0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1467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the project tests beyond ordinary noisy ASR.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7CA99-003F-4C97-9973-28CF4BF2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78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B4C74-3688-466D-A577-E248BE8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9975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2CA12-B650-4D2F-B794-2750575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3377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Completed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68233-211B-4D36-A199-9E24136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1952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Dataset, noise mixing, inference, and metrics are reproducible.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3BAA2-E842-44C0-B781-81F9CC15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78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92DDA-15D4-4D7E-BF66-E1F36B7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9E20B-5C07-4D22-83C4-ABF8B07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3862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Planned Method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57314-8902-49CB-BEA9-B99A7309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PhoWhisper + LoRA + decoder-side tone head.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69EB4-E6F8-4211-A93F-0003C08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78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BBB3C-0E4B-4C82-8157-65ED770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C7671-B7F4-4D20-B45F-B4BA4BE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4347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Midterm Results and Next Steps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972E3A-B587-438B-9C17-9C8FE9B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2922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 evidence, LoRA experiments, and future work.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F9F47-9DE1-452F-AF43-B229A92F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CD096-01AD-46A4-8454-A90FE261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93933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D7108-3E01-421A-BAA0-CB86410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B7FF6-8943-45BF-A8B9-A5CA015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DA8C2-C8A6-42D6-88B9-BA7F2BC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0837D-3957-4DD8-B32D-4C4EFAAD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072E5-309F-4745-917B-567E43DB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46439-0525-44AC-A896-2676777E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8dfb9f03649b8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DECEA-C9AB-4123-AFA9-34CCFFE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MOTIVATION AND 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A659-82A6-4129-9214-DEC2DC1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Noise hurts Vietnamese ASR beyond word-level 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65FC-9C0B-443F-9394-1B7AB0D5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C7BEC-70FF-4295-9B63-C29FEBE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44ACE-CF2C-47E4-B0AE-B33E2B6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Vietnamese is tone-sensitive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08ABB-280B-47B0-8080-948F15A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 wrong tone mark can change a syllable into a different word or meaning. ASR quality should therefore be checked at word, character, tone, and diacritic level.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6140-0C42-44F3-B686-69923CD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04907-BE5E-478C-B790-2B547E3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E48ED-27EE-42C1-B0B4-FE1C1F20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Real speech is noisy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00345-BB6F-4532-9FF7-5A6F6D43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Cafe, traffic, fan, and rain-like noise reduce acoustic clarity. Tone cues are often weaker under low SNR conditions.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45288-55E2-4718-880D-38397FC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02D42-59A8-4BEC-AE2F-DBF80B40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6E1B1-0C36-4B8D-BA31-5EFA58E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WER/CER are not enough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35CF8-44D5-4EA2-8A67-37ECA94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WER and CER show general ASR errors, but they do not isolate Vietnamese-specific tone and diacritic mistakes.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0DB7A-1C8A-4FAF-9A39-7EF73DA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1017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D0E1D-5660-443C-852B-B0D8707D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69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244D0-033A-48E2-A827-E501631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can PhoWhisper be adapted to noisy Vietnamese speech while preserving tonal correctness?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3AD07-21A0-41C6-9814-25421C45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9800A-C31E-4E3D-9CF6-DA71E0A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6941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5A3C48-1C5E-4945-84A6-63981433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933E6-BFF3-49AF-B9A9-9495A62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1A22B-88B6-4DA4-BEA7-7C5D6A3E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41EEE-55FB-4300-B2F4-2DCD5B9F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CBD08-4BA6-4206-823E-4ECDE20A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28A34-588E-4D65-96DA-D802C3A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deab859574567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B5D7-5E71-42CD-94C9-88917B7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RESEARCH GAP AND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D5177-0B8C-416D-8E25-30BB66D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project is positioned around tone-aware adaptation, not speech enhancement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6DD60-7DC7-48BB-BF3D-A3EDC46E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4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8B732-73C1-4269-999F-002D0E5E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09528-8869-48D6-A182-DD026C0B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Model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574EA-4392-4F5F-94E0-F34062E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Whisper/PhoWhisper are strong ASR models, but the repo has not yet trained an explicit tone objective.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2FBD6-0C17-438C-912E-5D62E87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C4BF8-EF10-4AB7-9157-7625D1F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37F0C-BCEB-435D-B442-176BD44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Evaluation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A7BC0-F3F7-413F-AEF8-75D8BB7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908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WER/CER are implemented together with simple TER and DER to expose Vietnamese-specific errors.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936A-0A9B-4D4A-800E-4030448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04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62E94-59E5-4D47-ACAA-0BD57BC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5DB2C-2D13-4C23-865E-C7C05942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Benchmark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8020C-3253-41F0-9A5B-3D2343F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current evidence is a controlled noisy-ASR baseline, not a full LoRA comparison yet.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8DEFC-8A80-43F7-9656-CAE6DE9F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587EC-931C-4664-9414-72674D2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0075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54B09-AD1A-44EE-979A-2AC3330D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Does explicit tone supervision improve Vietnamese ASR robustness under controlled acoustic noise beyond ordinary noisy LoRA fine-tuning?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137DD-6253-4524-9338-B0F1DC1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3D8CA-469B-443F-B869-93A4787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721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Current proof: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6FD91-BDFC-4A17-8048-9166EFCB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86DAB-F3DB-4909-AEDE-89BD45E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7212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Next proof: LoRA runs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0FD3C-0462-44FA-9E51-F4F67B75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A578D-5CAC-4B3C-AC24-7ECA34D6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72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Final proof: tone-aware MTL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46778-1A40-47EA-B89C-9F262DF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59D3F-73C3-40CB-8829-5B177F5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014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B7472-C80A-4B6C-9B8E-41C245B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84C43-504F-4D57-B0B8-9410BD9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E60DD-C950-495A-9AB8-690999C4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96048-090B-4A74-AB0B-1F4FCF6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02418-2E13-4D1F-BAAD-9205D884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351D9-711A-4553-ADDD-5A1D238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a7870d7074304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71CDF-2F8F-4E6D-AA22-6492F3D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COMPLETED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6AAF9-68DE-4275-A5DB-DB24365C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the repo can already reproduce end to 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81D62-DA73-45F8-9D37-B840CC8A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3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657E1-CCC0-47A5-BACB-E503A017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1. Data manifest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CEE8E-484E-4979-8677-8D7D53C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VIVOS clean speech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transcript + wav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9D6BD-6F47-48E0-ACAB-308B7F0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A6CE5-74BE-405E-AF6C-BC70B5E7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5745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9CD74-5EEA-4023-8A70-5EC5EB89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336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2. Noise mixing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B491E-4CDC-4049-8278-F4333C0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8130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MUSAN/demo noise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SNR: 20/10/5/0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6790D-9585-448D-857B-8D454682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0FF2B-DBFF-4BCC-BA54-35B6B30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5A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58269-735D-4C5B-875E-EA5B9F2B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3.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1F9D7-39F3-4D72-8620-B75635AA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Whisper-base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forced Vietnamese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3DC8D-3582-4A58-B5FE-5E464E1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3348D-B5C2-4B8E-883F-5B970CA5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5745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621BA-BF19-4619-96EA-6CB3A5F0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336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4.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E190C-349B-4D96-9EDC-D80EA256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8130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WER, CER,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TER-simple, DER-simple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62051-6125-4144-9B0B-52865E01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53E05-2426-456C-88F5-E0241AE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5745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A4011-CBA9-485D-9F5F-AA190E7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5. Report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8BD9E-4FAD-430E-8368-0C226D7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8130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Markdown / LaTeX /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slide builders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EB543-E604-46EB-AB58-1B9EE5E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038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329C9-628B-466C-AAF3-C906E01A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985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Important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14BAA-AC7C-44D6-8088-73BDD42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pipeline and baseline results exist. Fine-tuned LoRA checkpoints and tone-aware MTL results are not available yet, so the deck must present those as planned experiments.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0B434-6B6B-4693-94BA-A8A46B3B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695A8-ACDA-40B4-9041-675ED6B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77472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1FC13-667F-4D10-BF05-C8B479D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6132B-46C6-42CF-A47B-01929B8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DF522-8F42-4C08-B559-0E6E53F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6ACE-989C-45F1-8400-970A0C9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7EC89-0A2E-4394-871F-2627BC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73D8F-3C77-4D19-90D3-DC7CDC5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a9c0c580b47d0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311E2-CF05-4783-A00B-226746FF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PLANNED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C1830-5140-4823-84A7-B9B7F35E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Tone-aware LoRA adaptation of PhoWhisper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61B2F-BFEB-4678-8D75-99C0DD14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PLANNED TRAINING, NOT MIDTERM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EA433-BD51-4387-9BBB-E27186D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0B63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FB8DB-9FA0-46B3-B0F1-36FB794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Input speech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16833-4B14-49CE-958D-4A48568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Vietnamese utterance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clean or noisy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C3DB5-DF80-444F-B233-1F1F015D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616FA-950E-4F86-8A07-C8EB7AB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Noise injection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4D3DE-53D5-440E-8698-EA49E6DA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90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Cafe / traffic / fan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20, 10, 5, 0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015EC-693A-4D8C-A8E1-5C58F1E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BA83D-5CAD-4D05-B464-E0733B25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Log-Mel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57147-D1D5-4C8E-BC56-058545A5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Spectrogram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50F49-8DFA-4696-A959-A07005E8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2266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45A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01214-6BB3-4DDF-A49D-3FFF872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PhoWhisper backbone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500AB-0132-4817-AB4F-89EF6F7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Encoder + decoder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LoRA on attention layers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q_proj / v_proj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1D1E4-7742-4EE9-BE75-CA65C79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44F94-A170-445C-909A-C48D7BC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ASR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29DCD-0134-4953-9E08-F7197CC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Predicted transcript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69629-AF34-4C58-B876-BFCFB7C7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25598-DB00-43A4-B08E-C91297D9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Tone head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E9FA0-BE48-4A71-B03B-6F37A5DC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6 tone classes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B488E-3BD6-4B66-9E5A-11811B0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574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5F78D-3C8F-4966-AB19-F265EEA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574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28AF3-4FDD-47A8-B638-8FD2226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574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99E9B1-79D1-4C41-9E57-EE965E15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717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FC26C-4510-4199-899D-0CF0937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9622F-D00B-4CDC-96F2-B2126C1C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2A4115-088D-4D1D-93EA-460F58F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Reference transcript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58B9EC-97EA-4D0D-9A67-38F229BD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Ground-truth 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5918A-EC0E-40BD-895A-DC0BA464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9C5C2-F13D-4185-9C98-ECB92DF7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38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Tone label extraction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556050-6EEC-4B33-B452-24BA7DB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Rule-based labels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from Vietnamese 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85FCA6-C910-4FF9-A8DD-9707F81C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A06622-FEB1-4F3F-A481-96525199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ASR loss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A9702-DF27-4061-B3A1-70519E7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L_ASR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D25004-C0CD-4FFD-9F53-F0B0CCE0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79F563-3773-458F-92A7-6A72A29F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Tone loss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D9B83F-4917-4472-9FCA-25F2AB6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L_tone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EC5282-B175-4ADE-8517-22D52538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245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1DD3A5-DE9F-4E00-8519-9D6B41D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007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Joint objective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8D50FC-3940-4A84-898B-717B996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483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L_total = L_ASR + lambda * L_tone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5966EA-6DA0-4775-BD9A-D74585EC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52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45A94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34E3DC-8E81-445D-8A67-AF19715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00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FE77E3-18FD-4EFD-8977-D60A64E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48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WER/CER</a:t>
            </a:r>
          </a:p>
          <a:p xmlns:a="http://schemas.openxmlformats.org/drawingml/2006/main">
            <a:pPr algn="ctr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TER/DER by SNR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5056FE-A394-494D-96A7-07C557A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720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8F6F70-546A-4F9B-AC71-CF08D94C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8E902-21B2-4629-BE41-90084064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81550"/>
            <a:ext cx="285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C41BFC-DAFC-4164-93DF-7B56A141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91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4C27D8-F22E-41C2-B94C-DBBF316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720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72376F-D8D5-4CC1-9864-01C294FD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006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BA0B3A-2944-44B5-86BF-A443B49D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006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CECA2F-EA1B-4B2B-86A8-67B30D6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79EE6E-9C17-4D6A-88D5-6484A40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276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E684B-AB61-48A2-B4A4-4B63B108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82C91-D174-457F-AA52-4D57C1A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B187A-B470-4218-B4DB-C460B4D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59A00-8AF4-4EC0-85C6-325AE86D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2BD6A-6991-42DF-8777-B07601C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C565-63C2-4DC9-B913-82A9C98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0fd49abe94b6d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ECADA-99D1-4E56-887F-9705920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DATASET AND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A6083-6355-4EEB-B0ED-2CF49CBF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sources, experimental subset, and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44FE9-F5DD-4068-9F2D-BEB73C3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2E2C5-E5AA-40A6-A695-66EF244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C30C9-48C5-43D9-B1CD-D82576B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23931-0C5B-4156-BAFD-4B6C57D1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utterances evaluated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F7992-3524-4B34-974C-D7430578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B1F19-FBEE-41DC-A8C7-6D8A771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Noisy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15F3D-3011-4172-9223-8CB8FB54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57DEE-D6F7-4836-B64A-4ACA0D3A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30 utterances x 4 SNR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428D3-B286-4FB5-8BE0-15F6E55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85DDA-BF91-4653-8AA3-8F93EF7C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Generated noisy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DA9BC-D921-431A-B0EB-60C175F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DB745-631F-4237-AE73-37067F8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50 utterances x 4 SNR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97B8C-623A-4D18-A6DD-CB55F25D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9AFCF-C043-4B84-9ED4-1F13D273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duration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19561-7E30-4A63-881A-A5B7387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3.31s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D6EBA-7510-4758-BCC9-C4368DBB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noisy evaluation subset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38ABA-0C55-4487-85ED-E366816E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190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EE676-42BC-4D86-86A5-52FCB6C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F2AEF-FA52-4739-A25F-DACD1276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867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C0880-FD58-4625-902E-AE01130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8670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VIVOS: Vietnamese clean ASR speech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MUSAN/demo noise: controlled acoustic mixing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FLEURS: optional external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BDC3C-90E3-4758-8D3E-65B4C3D8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3190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B981D-75DD-43F1-BFF0-CA34C7B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FC32A8-5CC8-4FE9-8FB9-84A1B3B9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2867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Model sources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C48F3-9445-4E23-A833-4A5C0A9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28670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Midterm baseline: Whisper-base with Vietnamese decoding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model: PhoWhisper-base with LoRA adapters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A6C378-1745-4650-81ED-069652A0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190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B92FB-34FD-4A27-8F9E-85FC5071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A758E8-A594-4AD3-AF66-A3833576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867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0DF57-B75A-4A9D-8B21-B96201D9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8670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WER: word errors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CER: character errors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TER-simple: tone error proxy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DER-simple: diacritic error proxy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BCDBA-A7A8-4290-8420-94DAE50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Lower is better for all metrics. TER/DER are currently simple repo-level proxies and should be strengthened with alignment-aware scoring later.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6A9A6-D82C-4900-94E9-6FBB5D8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39AD04-B1C1-4EDA-8527-A111D77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44530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24B88-0081-4E6B-8242-5D4822B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784DD-C2FC-4346-90A9-8CB135D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98BFB-E832-444C-AAD9-8ED870AA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8CC15-EB79-422A-A067-564A438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CAD5D-5275-4BB7-AC74-DD45DF3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EA794-B78C-469E-B16F-A8667448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770cd8c4e4bf3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DE9B6-ADF2-418A-A47A-66E2EEF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MIDTERM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DCB67-0AB0-46EA-BDBC-F424FA3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Baseline: Whisper-base + forced Vietnamese decoding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A7B1-757F-49EF-8FC7-D01A0E7A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A32D2-F3EA-4646-82E6-F7D5CCD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45A4D-AD9A-4193-9220-D8FC5BA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E265E-9736-4634-B214-5CF5FFF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13D68-4054-46EE-9BC9-79265AF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B34EE-05AB-4A2F-A239-5C4E8E7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CF2E7-7D6D-48F1-8961-0A5C7A64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B8DA4-789A-4469-8676-8FA2EA1E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41F82-E7D9-472D-94FF-EB547DB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16C2D-590C-41C3-AF9D-8CBD795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CE329-1F07-460A-B821-B10B1F5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1840C-2B73-428A-A18C-245DBE0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83A31-EB67-4A70-B3EA-03A3781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8CBFF-D2A0-430F-93EB-655E974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9D047-3283-49E0-B97E-B3D254A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955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3035B-DE28-4689-882F-159B4B68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336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DB980-F2D3-47A1-B7E1-67F2714D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C3A74-EDFF-4684-8C4B-E2D3A5D8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43.06%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1A71F-CA7A-41B5-820D-F8B302E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955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D06AC-886E-4F9F-BDAB-3C6A5DF2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19.61%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E52DE-5B8A-4FC3-A97C-E1041E9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EA491-D402-460D-91C7-6886AABE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23.13%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6A0C1-D0F7-499D-A0D3-AE80E6AF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84399-AF8D-4CCB-9D50-9358BC5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12.22%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E50B37-D88E-4EDA-9327-2283A65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1C404-BD22-424A-AB44-8AB1539C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Noisy 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9A8F7-A897-414F-9E6C-5EE326E7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39C79-9124-4D8D-8AA1-7FAEB3F5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337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32117-121E-4DF1-8C85-303A40D7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1D0ED-36BF-4A73-AB37-4B99E23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47.95%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2BF969-8E9E-4C7A-B2BF-0450A92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5A38FD-83A4-428E-9E8D-D89CD447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23.55%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AC8B86-5AB3-4055-BDA9-C68FB50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0B6606-E9A5-408D-9C4F-1E160ABF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25.98%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2943F0-DD1C-4BD8-B007-2091884E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953A1C-D153-4017-BBD5-9C22394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10.82%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3BE9F8-F3BD-47F1-B584-09E9EBB5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7B6BDE-060A-4994-8F2A-5C3CE43A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3E1EC4-9557-409A-9E4F-CF85943E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D42118-E818-452F-A9DB-BE1904D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528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3C49CB-87F0-4990-A3B3-A3BF37F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697961-51A9-4AA9-839A-A2A5DC8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528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48A5B7-860B-4B9B-AAC0-422693D8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2E1A67-9E45-4AC8-A7A9-4252CF07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8D2A12-7839-41C9-8AF7-6F320E2A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00A02D-474D-4B53-8533-F5198A6E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528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476D3A-D5B1-4FE5-A13A-3176A24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9A6280-DD78-4270-9632-03F6A6B1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D2294E-9316-41F3-BBFD-3CDEA087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C9B8F9-88FF-4458-AB97-B4414337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20 dB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3AFE51-2F19-4C4D-B0DD-14552C59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F70601-86B5-4C8A-B7B4-3CE84BA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7F9134-C522-4F90-95E9-2116E3A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68BB95-6E76-4A70-A87B-B5647789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43.42%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82B13D-8D04-4D4D-9ED9-E65C938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767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D30249-669C-41B1-9942-FE52058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20.02%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EFCF52-098C-4D64-A79B-F4C4D80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AFE172-3B3B-4B2A-B2C2-2C584659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14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21.00%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0F28C0-6C9F-499B-B59D-7486510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2312ED-8E4A-4ADB-9E0C-CD533CA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10.17%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87B662-9C12-4A9F-B5A1-591EDFC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05340F-A58B-47D3-9992-BB4CC91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 dB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802ED2-2FEB-496C-B6E8-B5D81F8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A8A343-6A93-40FB-9A34-A69E4C0D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EDEE70-FD81-412F-B908-9DC836CB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9032A8-B27D-4EBE-A225-BFA2EDE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767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49.82%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9CD398-9EB8-4875-9232-FBD106C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5CAEEF-15CD-41B8-935E-D824F20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24.02%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8E946D-9355-40BE-8417-B0FDECB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515F04-A4F4-42A3-9EA0-E3B43035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25.62%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B20619-1E43-42F9-AA54-0899BA10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72041E-FBE5-4422-ACC9-AEAB90A3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767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9.62%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560C02-3CE1-4CCA-8DC6-FD48C238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801F40-03E3-4D38-9B76-2C11740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 dB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746128-7D22-4B91-B95A-605DD0D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628958-E65A-4D79-AE24-773361F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E0E9078-984C-4701-8272-E05372D3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F0D060-A5AC-4830-9519-BF72A8D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387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45.55%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A7E9727-B639-4421-8986-5B3A24D1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006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D803B3-1038-46BE-A7BC-953F8AF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22.39%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3620C3-2F6F-46F2-AFA5-709A046C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85A208-7CE4-4C0B-9EE7-2AC977EE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25.62%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6DF9A6-D40B-474C-A473-504C1B4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185C83-475C-4194-BE53-81942D10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11.24%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14955E-8C59-4600-B956-913CB8DF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7DED4E-7F44-4C71-B270-9BA89B9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0 dB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4173D3-2957-40C9-8CED-1FA643F2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4D89E33-EE23-4D7F-976A-357C9F7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283AC9-396A-441D-A76F-340A02BB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625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D6C86B-47FB-4340-88DB-F2624B47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00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53.02%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F7C96F6-D15B-4E5A-88DD-66B4AE5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625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C31CC1-F8B7-412D-B466-A3F916D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00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27.78%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A7FC97-2EDA-4321-9B31-99299A8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625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6E4BB6-F9CF-4F32-9CBB-C64A4E8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31.67%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7CDADD-C945-448A-98D3-7F4D3B63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B08E01-4131-426D-86F5-7D08DBE3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00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12.41%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5F2A90-026B-4780-B1D9-D155151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WER by SNR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BD033C-AB5E-4513-8046-8AE087F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20 dB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AC210F-0393-4B11-8694-A45E69D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B467A70-8117-4129-934E-94DF9B5B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22746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E4FCA8E-1184-41A5-B579-81DFE23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717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43.42%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D9297B1-DFBB-4390-9880-C40FD8A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 dB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CE5913F-D17D-4850-8247-7DFA53E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5ED3C8-DDB6-4130-9C41-EA87EAB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260994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0EB09EF-5F00-447B-A00F-5467A8F4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6230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49.82%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CEDF58A-92F1-4FCB-A657-23AC1A59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 dB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0F3595-F0BC-4223-816E-1F5A6895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6200652-5864-43B1-B6C9-3EE8808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38625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34D7870-6034-46AC-89C9-4CBE0251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528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45.55%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362BC8-A1D7-4044-8065-7466045F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0 dB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DD0EFC-C4F3-4274-B5D9-9350504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B16C650-A687-402D-ACD0-1817591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27775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1A0CDE1-80F5-412A-AC59-9ED6BC0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4340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53.02%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35C4EE1-0C0F-4BC8-986B-5E891AE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0857FC-EB79-4E78-BF19-211246F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Noise increases WER/CER. The hardest setting is 0 dB, with WER = 53.02% and CER = 27.78%. Forced Vietnamese decoding gives only small gains.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773CF28-D7C0-4C86-B76C-C08E270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9FC5E6B-4B44-4BBE-8DC6-CE1095D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60311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18D2D-35E9-464F-96AD-F179463D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6972-24BC-4995-9D81-EF6141D2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4903A-39A0-4CD2-9D62-6CC9BF9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8505E-E026-40A0-BCBF-DF0F46A7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E42BD-6821-4FBF-A84E-3503A041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72FF4-51D2-405E-BD83-DA57E0D0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c2b7fbcc4a27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90B89-B6CB-4D67-A2DA-949D2207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2B7C-B09E-4418-9BE1-3B68B3BE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Turn the completed baseline pipeline into LoRA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D988E-8397-4767-94F4-5B1304B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C5F69-EBFA-4F37-8715-F949309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BE07C-85A5-4ED0-8290-3AF59A1C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2625"/>
            <a:ext cx="868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4D222-1397-4CE9-BE61-1BCFA169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00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CE"/>
                </a:solidFill>
                <a:latin typeface="Aptos"/>
                <a:ea typeface="Aptos"/>
                <a:cs typeface="Aptos"/>
              </a:rPr>
              <a:t>PhoWhisper zero-shot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510AC-2B4A-41FD-8BFE-DEA94E8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Run PhoWhisper-base on the same clean/noisy subset as the Whisper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46BC2-4E07-46C4-A451-096843CE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669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7D21F-5C60-442D-9873-3DF65294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CECD5-1694-480B-B2B7-B6CD50A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D4E57-838E-47A9-806C-AA7CEDD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95575"/>
            <a:ext cx="868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C458A-8D1A-4D05-999F-E9EB6EA8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43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Clean LoRA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BD075-08AD-4ECF-BD4E-28B260FA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Fine-tune PhoWhisper with LoRA on clean VIVOS transcripts and compare to zero-shot.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E7AA0-5C24-4AFA-9C2F-C3984403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992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E8CB2-E075-42F4-9C12-018CCCB4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13430-E918-45C1-AED1-311ED7B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1BCE9-6986-4418-87AE-F45005B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38525"/>
            <a:ext cx="868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DEEFD-E24D-4E39-8D69-82E745D6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86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Noisy LoRA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289EA-13A3-44B7-96C2-6E6B000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 with MUSAN augmentation at 20, 10, 5, and 0 dB to improve noise robustness.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6833F-0830-4E56-AF16-49C0F9B0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528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E5469-CB71-43A4-A2A8-AB9767B1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20B61-71BE-4F27-9E1A-96AC27F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4780C-C6CD-4E98-8A0E-B208C8A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81475"/>
            <a:ext cx="868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9880E-0D44-4C8C-BAFB-2F6FB8B1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Tone-aware MTL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31429-55E6-4393-A76E-F8E74334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Add decoder-side tone classification head and train with L_ASR + lambda * L_tone.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CD863-2128-490C-BBD6-4025BCDB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69582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7A5B9-7FD0-4D43-8E2B-26FF2FE0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0188F-ABF0-40F7-981D-E80F889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006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754BB-4707-4CC9-B8C4-D99C3534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868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DA770A-FAF7-4CE9-AFEB-B5C6BE7C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Final evaluation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37B145-8968-44D7-B496-343DC923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 WER/CER/TER/DER by SNR, then run ablation: E3 versus E4.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697EE-23BC-4941-B16E-D96A40C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00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8ABED3-0947-44DB-8AB8-EF4BBDD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95975"/>
            <a:ext cx="866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Decision point: if E4 improves TER/DER without hurting WER/CER, the tone-aware objective is justified.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EA08FF-1F4C-493E-A342-F0513B2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10D87-B262-40C9-BC0C-E390BA78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14569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8F93F-04D8-4877-9F82-AE8BC7CF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9ADFD-B425-4C86-B784-FCFD7ED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45B1E-E12A-41D8-946C-F0645C3A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2652D-3B10-4B04-812A-4B31CC12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45A6B-00B3-454C-8B30-3B7FD611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0DD4-B8B7-44EB-8A6D-C1A9136E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e9849024e4178"/>
          <a:stretch xmlns:a="http://schemas.openxmlformats.org/drawingml/2006/main"/>
        </p:blipFill>
        <p:spPr>
          <a:xfrm xmlns:a="http://schemas.openxmlformats.org/drawingml/2006/main">
            <a:off x="514350" y="362458"/>
            <a:ext cx="2095500" cy="589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95315-E8BA-4C01-8F35-689CF1C2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CONCLUSION AND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DC01B-CA07-4FBA-8DA6-44812D1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Clear boundary between completed work and planned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B9565-BD7B-4CB7-B7BE-96CAFD6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953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216BC-EC18-4AA4-8EF1-81C27853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942"/>
          </a:solidFill>
          <a:ln xmlns:a="http://schemas.openxmlformats.org/drawingml/2006/main" w="0">
            <a:solidFill>
              <a:srgbClr val="45A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56320-043E-455F-A7DB-80935CB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A9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5A942"/>
                </a:solidFill>
                <a:latin typeface="Aptos"/>
                <a:ea typeface="Aptos"/>
                <a:cs typeface="Aptos"/>
              </a:rPr>
              <a:t>What can be claimed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AFD99-6DF0-4C81-9BCD-BD0FC9C0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62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 reproducible noisy Vietnamese ASR baseline pipeline is complete. It generates controlled SNR data, runs inference, computes metrics, and reports baseline degradation under noise.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B34EE-445C-4B21-9B77-164BB67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953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6E7ED-87EB-4DE9-A557-AEDEAF5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38A5F-A747-4BFB-954C-E65CECD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What cannot be claimed yet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FFFC4-88E0-41BA-A2DE-4253AAA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462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LoRA fine-tuned checkpoint or tone-aware MTL result has been produced yet. Claims about improvement must wait for E1-E5 experiments.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E1687-1C6E-43FE-8A8F-85665B7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00000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A0FC5-1CED-472B-BA80-98137F6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028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[1] Radford et al., Robust Speech Recognition via Large-Scale Weak Supervision, ICML 2023.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[2] Le et al., PhoWhisper: Automatic Speech Recognition for Vietnamese, 2024.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[3] Hu et al., LoRA: Low-Rank Adaptation of Large Language Models, 2021.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[4] Snyder et al., MUSAN: A Music, Speech, and Noise Corpus, 2015.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[5] Conneau et al., FLEURS: Few-shot Learning Evaluation of Universal Representations of Speech, 2022.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[6] AILAB, VNUHCM-University of Science, VIVOS: Vietnamese Speech Corpus for ASR.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2447B-C2F3-4C20-8A33-53D9852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721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00000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28285-0BCC-4098-A04C-A58F40B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SLP301 Midterm SU2026 | Tone-aware LoRA Adaptation of PhoWhisper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757B3-D46E-472B-B611-2DF5D29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39640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2026-06-13T17:02:58.9800000Z</dcterms:created>
  <dcterms:modified xsi:type="dcterms:W3CDTF">2026-06-13T17:02:58.9800000Z</dcterms:modified>
</coreProperties>
</file>